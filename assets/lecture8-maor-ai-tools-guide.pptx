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2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gentskills.co.il/he/skill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llama.com/download/windows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lovable.dev/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router.ai/keys" TargetMode="External"/><Relationship Id="rId3" Type="http://schemas.openxmlformats.org/officeDocument/2006/relationships/hyperlink" Target="https://agentskills.co.il/he/skills" TargetMode="External"/><Relationship Id="rId7" Type="http://schemas.openxmlformats.org/officeDocument/2006/relationships/hyperlink" Target="https://lovable.dev/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ollama.com/integrations/hermes" TargetMode="External"/><Relationship Id="rId5" Type="http://schemas.openxmlformats.org/officeDocument/2006/relationships/hyperlink" Target="https://ollama.com/download/windows" TargetMode="External"/><Relationship Id="rId4" Type="http://schemas.openxmlformats.org/officeDocument/2006/relationships/hyperlink" Target="https://support.claude.com/en/articles/12512180-use-skills-in-claud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לבן 5">
            <a:extLst>
              <a:ext uri="{FF2B5EF4-FFF2-40B4-BE49-F238E27FC236}">
                <a16:creationId xmlns:a16="http://schemas.microsoft.com/office/drawing/2014/main" id="{31BA1D8A-F1C9-49B5-8A2F-B59BD1DC5170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668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1725" b="0">
                <a:solidFill>
                  <a:srgbClr val="337F7E"/>
                </a:solidFill>
                <a:latin typeface="Arial"/>
                <a:ea typeface="Arial"/>
                <a:cs typeface="Arial"/>
              </a:defRPr>
            </a:pPr>
            <a:r>
              <a:rPr lang="he-IL" sz="1725" b="0">
                <a:solidFill>
                  <a:srgbClr val="337F7E"/>
                </a:solidFill>
                <a:latin typeface="Arial"/>
                <a:ea typeface="Arial"/>
                <a:cs typeface="Arial"/>
              </a:rPr>
              <a:t>מדריך לשיעור  ·  ספטמבר 2026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199EA36F-764D-4348-BB82-B50BA12CD6F8}"/>
              </a:ext>
            </a:extLst>
          </p:cNvPr>
          <p:cNvSpPr>
            <a:spLocks noGrp="1"/>
          </p:cNvSpPr>
          <p:nvPr/>
        </p:nvSpPr>
        <p:spPr>
          <a:xfrm>
            <a:off x="952500" y="1809750"/>
            <a:ext cx="10287000" cy="1857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570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570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מדריך פעולות</a:t>
            </a:r>
          </a:p>
          <a:p>
            <a:pPr algn="r" rtl="1">
              <a:lnSpc>
                <a:spcPct val="103000"/>
              </a:lnSpc>
              <a:buNone/>
              <a:defRPr lang="he-IL" sz="570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570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בכלי AI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E47754C3-281A-49D2-B6C8-24FB36903DB7}"/>
              </a:ext>
            </a:extLst>
          </p:cNvPr>
          <p:cNvSpPr>
            <a:spLocks noGrp="1"/>
          </p:cNvSpPr>
          <p:nvPr/>
        </p:nvSpPr>
        <p:spPr>
          <a:xfrm>
            <a:off x="952500" y="4057650"/>
            <a:ext cx="10287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40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40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התקנת סקיל, הפעלת מודל מקומי,</a:t>
            </a:r>
          </a:p>
          <a:p>
            <a:pPr algn="r" rtl="1">
              <a:lnSpc>
                <a:spcPct val="114000"/>
              </a:lnSpc>
              <a:buNone/>
              <a:defRPr lang="he-IL" sz="240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40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סוכן Hermes ובניית אפליקציה ב־Lovable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C3D61548-0BF4-4FAD-AF18-5DEFC1BC43D6}"/>
              </a:ext>
            </a:extLst>
          </p:cNvPr>
          <p:cNvSpPr>
            <a:spLocks noGrp="1"/>
          </p:cNvSpPr>
          <p:nvPr/>
        </p:nvSpPr>
        <p:spPr>
          <a:xfrm>
            <a:off x="533400" y="6067425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מעודכן ל־7 בספטמבר 2026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C865AAEF-3D18-4BD8-BAD7-EC94B37FC2FA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51044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>
            <a:extLst>
              <a:ext uri="{FF2B5EF4-FFF2-40B4-BE49-F238E27FC236}">
                <a16:creationId xmlns:a16="http://schemas.microsoft.com/office/drawing/2014/main" id="{39ECF56D-7129-41D9-B045-4F841BD622A5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11125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מה נתרגל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B78B8D46-34F7-4D95-9119-809CE33B2045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108013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475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475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01   התקנת סקיל מ־SKILLS-IL ב־Claude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E19C8834-A63A-42A4-A60A-BAC9B9FA7EF0}"/>
              </a:ext>
            </a:extLst>
          </p:cNvPr>
          <p:cNvSpPr>
            <a:spLocks noGrp="1"/>
          </p:cNvSpPr>
          <p:nvPr/>
        </p:nvSpPr>
        <p:spPr>
          <a:xfrm>
            <a:off x="857250" y="2609850"/>
            <a:ext cx="108013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475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475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02   התקנת Ollama ושיחה עם מודל מקומי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6AA150D2-FEDD-4451-AB3A-11BD73581BFC}"/>
              </a:ext>
            </a:extLst>
          </p:cNvPr>
          <p:cNvSpPr>
            <a:spLocks noGrp="1"/>
          </p:cNvSpPr>
          <p:nvPr/>
        </p:nvSpPr>
        <p:spPr>
          <a:xfrm>
            <a:off x="857250" y="3409950"/>
            <a:ext cx="108013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475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475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03   התקנת Hermes והגדרת ספק ומודל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8EE6E344-72E5-4489-A429-3F65DD9F0019}"/>
              </a:ext>
            </a:extLst>
          </p:cNvPr>
          <p:cNvSpPr>
            <a:spLocks noGrp="1"/>
          </p:cNvSpPr>
          <p:nvPr/>
        </p:nvSpPr>
        <p:spPr>
          <a:xfrm>
            <a:off x="857250" y="4210050"/>
            <a:ext cx="108013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475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475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04   בניית אפליקציה ישירות באתר Lovable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42F40EB5-F838-42E5-9F78-C5C54F1DA269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28551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לבן 7">
            <a:extLst>
              <a:ext uri="{FF2B5EF4-FFF2-40B4-BE49-F238E27FC236}">
                <a16:creationId xmlns:a16="http://schemas.microsoft.com/office/drawing/2014/main" id="{04EC7632-5346-434C-A14F-2C0E23BD0D16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11125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בחירת סקיל באתר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9CB1199F-6BAD-4E69-A38A-35AD59A95809}"/>
              </a:ext>
            </a:extLst>
          </p:cNvPr>
          <p:cNvSpPr>
            <a:spLocks noGrp="1"/>
          </p:cNvSpPr>
          <p:nvPr/>
        </p:nvSpPr>
        <p:spPr>
          <a:xfrm>
            <a:off x="8334375" y="1619250"/>
            <a:ext cx="332422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1. נכנסים לספריית הסקילים בעברית.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B3F7AB54-EB96-4AB8-9491-19F3DB914C2B}"/>
              </a:ext>
            </a:extLst>
          </p:cNvPr>
          <p:cNvSpPr>
            <a:spLocks noGrp="1"/>
          </p:cNvSpPr>
          <p:nvPr/>
        </p:nvSpPr>
        <p:spPr>
          <a:xfrm>
            <a:off x="8334375" y="2609850"/>
            <a:ext cx="332422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2. מחפשים ״דוחות כספיים״.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ECF19C77-F23F-4053-A301-4DDC9F641B95}"/>
              </a:ext>
            </a:extLst>
          </p:cNvPr>
          <p:cNvSpPr>
            <a:spLocks noGrp="1"/>
          </p:cNvSpPr>
          <p:nvPr/>
        </p:nvSpPr>
        <p:spPr>
          <a:xfrm>
            <a:off x="8334375" y="3600450"/>
            <a:ext cx="3324225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3. פותחים ״דוחות כספיים ישראליים״ וקוראים מה הסקיל עושה.</a:t>
            </a:r>
          </a:p>
        </p:txBody>
      </p:sp>
      <p:pic>
        <p:nvPicPr>
          <p:cNvPr id="12" name="תמונה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1684923"/>
            <a:ext cx="7391400" cy="4088229"/>
          </a:xfrm>
          <a:prstGeom prst="rect">
            <a:avLst/>
          </a:prstGeom>
        </p:spPr>
      </p:pic>
      <p:sp>
        <p:nvSpPr>
          <p:cNvPr id="6" name="מלבן 5">
            <a:extLst>
              <a:ext uri="{FF2B5EF4-FFF2-40B4-BE49-F238E27FC236}">
                <a16:creationId xmlns:a16="http://schemas.microsoft.com/office/drawing/2014/main" id="{5A954857-8921-41E0-BB65-838CDDBA5061}"/>
              </a:ext>
            </a:extLst>
          </p:cNvPr>
          <p:cNvSpPr>
            <a:spLocks noGrp="1"/>
          </p:cNvSpPr>
          <p:nvPr/>
        </p:nvSpPr>
        <p:spPr>
          <a:xfrm>
            <a:off x="533400" y="6038850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1650" b="0">
                <a:solidFill>
                  <a:srgbClr val="337F7E"/>
                </a:solidFill>
                <a:latin typeface="Arial"/>
                <a:ea typeface="Arial"/>
                <a:cs typeface="Arial"/>
              </a:defRPr>
            </a:pPr>
            <a:r>
              <a:rPr lang="he-IL" sz="1650" b="0">
                <a:solidFill>
                  <a:srgbClr val="337F7E"/>
                </a:solidFill>
                <a:latin typeface="Arial"/>
                <a:ea typeface="Arial"/>
                <a:cs typeface="Arial"/>
                <a:hlinkClick r:id="rId4"/>
              </a:rPr>
              <a:t>לספריית SKILLS-IL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8131B683-4459-48C9-ACD3-E9E6323E7DED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18733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לבן 7">
            <a:extLst>
              <a:ext uri="{FF2B5EF4-FFF2-40B4-BE49-F238E27FC236}">
                <a16:creationId xmlns:a16="http://schemas.microsoft.com/office/drawing/2014/main" id="{90DB35C4-F3F2-4C5B-B4D3-88A225FF849B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11125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הורדת הסקיל כקובץ ZIP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BFCEF984-40DF-4325-83A3-7499C77F9A3C}"/>
              </a:ext>
            </a:extLst>
          </p:cNvPr>
          <p:cNvSpPr>
            <a:spLocks noGrp="1"/>
          </p:cNvSpPr>
          <p:nvPr/>
        </p:nvSpPr>
        <p:spPr>
          <a:xfrm>
            <a:off x="8334375" y="1619250"/>
            <a:ext cx="33242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1. מגיעים אל ״איך להשתמש בסקיל הזה״.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BE940157-0DB5-49BE-AAD3-27081C63680B}"/>
              </a:ext>
            </a:extLst>
          </p:cNvPr>
          <p:cNvSpPr>
            <a:spLocks noGrp="1"/>
          </p:cNvSpPr>
          <p:nvPr/>
        </p:nvSpPr>
        <p:spPr>
          <a:xfrm>
            <a:off x="8334375" y="2705100"/>
            <a:ext cx="3324225" cy="1314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2. בוחרים Claude.ai או Claude Desktop, לפי סביבת העבודה.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E2EEF97A-4699-4FBA-8CDF-2255248560DC}"/>
              </a:ext>
            </a:extLst>
          </p:cNvPr>
          <p:cNvSpPr>
            <a:spLocks noGrp="1"/>
          </p:cNvSpPr>
          <p:nvPr/>
        </p:nvSpPr>
        <p:spPr>
          <a:xfrm>
            <a:off x="8334375" y="4152900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3. לוחצים ״הורדת ZIP״ ושומרים את הקובץ.</a:t>
            </a:r>
          </a:p>
        </p:txBody>
      </p:sp>
      <p:pic>
        <p:nvPicPr>
          <p:cNvPr id="12" name="תמונה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2202761"/>
            <a:ext cx="7391400" cy="3052552"/>
          </a:xfrm>
          <a:prstGeom prst="rect">
            <a:avLst/>
          </a:prstGeom>
        </p:spPr>
      </p:pic>
      <p:sp>
        <p:nvSpPr>
          <p:cNvPr id="6" name="מלבן 5">
            <a:extLst>
              <a:ext uri="{FF2B5EF4-FFF2-40B4-BE49-F238E27FC236}">
                <a16:creationId xmlns:a16="http://schemas.microsoft.com/office/drawing/2014/main" id="{393DFFF5-7F3A-44BA-83E5-76F9741730E9}"/>
              </a:ext>
            </a:extLst>
          </p:cNvPr>
          <p:cNvSpPr>
            <a:spLocks noGrp="1"/>
          </p:cNvSpPr>
          <p:nvPr/>
        </p:nvSpPr>
        <p:spPr>
          <a:xfrm>
            <a:off x="533400" y="6067425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המסלול העדכני לממשק Claude: הורדת ZIP והעלאה דרך מסך הסקילים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F9D4FF32-02D7-4D2C-B9B1-4B2F69B5C7DB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49180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35D5782F-998B-4037-96C4-434530A32398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11125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הוספת הסקיל ל־Claude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3A59FB8E-6E6F-4425-A7E9-03C07D0574DA}"/>
              </a:ext>
            </a:extLst>
          </p:cNvPr>
          <p:cNvSpPr>
            <a:spLocks noGrp="1"/>
          </p:cNvSpPr>
          <p:nvPr/>
        </p:nvSpPr>
        <p:spPr>
          <a:xfrm>
            <a:off x="8334375" y="1619250"/>
            <a:ext cx="3324225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1. פותחים Customize,</a:t>
            </a:r>
          </a:p>
          <a:p>
            <a:pPr algn="r" rtl="1">
              <a:lnSpc>
                <a:spcPct val="114000"/>
              </a:lnSpc>
              <a:buNone/>
              <a:def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ואז Skills ולוחצים +.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AFF52B8B-307E-4DA7-A453-7712BC7BFF24}"/>
              </a:ext>
            </a:extLst>
          </p:cNvPr>
          <p:cNvSpPr>
            <a:spLocks noGrp="1"/>
          </p:cNvSpPr>
          <p:nvPr/>
        </p:nvSpPr>
        <p:spPr>
          <a:xfrm>
            <a:off x="8334375" y="2943225"/>
            <a:ext cx="3324225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2. בוחרים Create skill,</a:t>
            </a:r>
          </a:p>
          <a:p>
            <a:pPr algn="r" rtl="1">
              <a:lnSpc>
                <a:spcPct val="114000"/>
              </a:lnSpc>
              <a:buNone/>
              <a:def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ואז Upload a skill.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3507E7C7-AE82-41A2-ACC0-CD8166A25D66}"/>
              </a:ext>
            </a:extLst>
          </p:cNvPr>
          <p:cNvSpPr>
            <a:spLocks noGrp="1"/>
          </p:cNvSpPr>
          <p:nvPr/>
        </p:nvSpPr>
        <p:spPr>
          <a:xfrm>
            <a:off x="8334375" y="4267200"/>
            <a:ext cx="3324225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3. מעלים את קובץ ה־ZIP ומוודאים שהסקיל פעיל.</a:t>
            </a:r>
          </a:p>
        </p:txBody>
      </p:sp>
      <p:pic>
        <p:nvPicPr>
          <p:cNvPr id="13" name="תמונה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2260483"/>
            <a:ext cx="7391400" cy="2937109"/>
          </a:xfrm>
          <a:prstGeom prst="rect">
            <a:avLst/>
          </a:prstGeom>
        </p:spPr>
      </p:pic>
      <p:sp>
        <p:nvSpPr>
          <p:cNvPr id="6" name="מלבן 5">
            <a:extLst>
              <a:ext uri="{FF2B5EF4-FFF2-40B4-BE49-F238E27FC236}">
                <a16:creationId xmlns:a16="http://schemas.microsoft.com/office/drawing/2014/main" id="{DB2CD25E-B11C-422C-A438-DE75C30FD70D}"/>
              </a:ext>
            </a:extLst>
          </p:cNvPr>
          <p:cNvSpPr>
            <a:spLocks noGrp="1"/>
          </p:cNvSpPr>
          <p:nvPr/>
        </p:nvSpPr>
        <p:spPr>
          <a:xfrm>
            <a:off x="533400" y="6067425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לפני ההעלאה: בהגדרות Capabilities מפעילים הרצת קוד ויצירת קבצים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D6601989-5539-4217-8728-181E012C98AC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F6599CEA-A9C8-4D64-AAA0-943D78A05F07}"/>
              </a:ext>
            </a:extLst>
          </p:cNvPr>
          <p:cNvSpPr>
            <a:spLocks noGrp="1"/>
          </p:cNvSpPr>
          <p:nvPr/>
        </p:nvSpPr>
        <p:spPr>
          <a:xfrm>
            <a:off x="571500" y="5467350"/>
            <a:ext cx="7334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1500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lang="he-IL" sz="1500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מתוך מרכז העזרה הרשמי של Claude</a:t>
            </a:r>
          </a:p>
        </p:txBody>
      </p:sp>
    </p:spTree>
    <p:extLst>
      <p:ext uri="{BB962C8B-B14F-4D97-AF65-F5344CB8AC3E}">
        <p14:creationId xmlns:p14="http://schemas.microsoft.com/office/powerpoint/2010/main" val="995672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לבן 7">
            <a:extLst>
              <a:ext uri="{FF2B5EF4-FFF2-40B4-BE49-F238E27FC236}">
                <a16:creationId xmlns:a16="http://schemas.microsoft.com/office/drawing/2014/main" id="{3817E76D-4C77-41B1-86D2-092728744718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11125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הפעלה ובדיקת הסקיל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22097ED2-CA8A-434B-81F2-9DF59708E901}"/>
              </a:ext>
            </a:extLst>
          </p:cNvPr>
          <p:cNvSpPr>
            <a:spLocks noGrp="1"/>
          </p:cNvSpPr>
          <p:nvPr/>
        </p:nvSpPr>
        <p:spPr>
          <a:xfrm>
            <a:off x="904875" y="1476375"/>
            <a:ext cx="107537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40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40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פותחים שיחה חדשה ומבקשים משימה שמתאימה לסקיל.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D2442A6D-8244-4862-8941-2B7C463183CB}"/>
              </a:ext>
            </a:extLst>
          </p:cNvPr>
          <p:cNvSpPr>
            <a:spLocks noGrp="1"/>
          </p:cNvSpPr>
          <p:nvPr/>
        </p:nvSpPr>
        <p:spPr>
          <a:xfrm>
            <a:off x="904875" y="2371725"/>
            <a:ext cx="107537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19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19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דוגמה לתרגול עם נתונים פיקטיביים: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22AA6260-F43F-4551-8ECC-C0208F163E2C}"/>
              </a:ext>
            </a:extLst>
          </p:cNvPr>
          <p:cNvSpPr>
            <a:spLocks noGrp="1"/>
          </p:cNvSpPr>
          <p:nvPr/>
        </p:nvSpPr>
        <p:spPr>
          <a:xfrm>
            <a:off x="904875" y="3028950"/>
            <a:ext cx="10753725" cy="1600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5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5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״השתמש בסקיל israeli-financial-reports.</a:t>
            </a:r>
          </a:p>
          <a:p>
            <a:pPr algn="r" rtl="1">
              <a:lnSpc>
                <a:spcPct val="114000"/>
              </a:lnSpc>
              <a:buNone/>
              <a:defRPr lang="he-IL" sz="25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5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הכן טיוטת דוח רווח והפסד בעברית לעסק לדוגמה.</a:t>
            </a:r>
          </a:p>
          <a:p>
            <a:pPr algn="r" rtl="1">
              <a:lnSpc>
                <a:spcPct val="114000"/>
              </a:lnSpc>
              <a:buNone/>
              <a:defRPr lang="he-IL" sz="25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5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הצג בנפרד נתונים חסרים והנחות.״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462B089A-1F5D-4B83-A784-F8C6DC2ECB47}"/>
              </a:ext>
            </a:extLst>
          </p:cNvPr>
          <p:cNvSpPr>
            <a:spLocks noGrp="1"/>
          </p:cNvSpPr>
          <p:nvPr/>
        </p:nvSpPr>
        <p:spPr>
          <a:xfrm>
            <a:off x="904875" y="4762500"/>
            <a:ext cx="10753725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025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025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בודקים שהסקיל מופיע כפעיל ושהתוצר מתאים לנתונים ולבקשה.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E8187D8E-6DA6-4F70-B36B-4DAEE36910CD}"/>
              </a:ext>
            </a:extLst>
          </p:cNvPr>
          <p:cNvSpPr>
            <a:spLocks noGrp="1"/>
          </p:cNvSpPr>
          <p:nvPr/>
        </p:nvSpPr>
        <p:spPr>
          <a:xfrm>
            <a:off x="533400" y="6067425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בדוגמה הפיננסית, התוצר הוא טיוטה לבדיקה ולא דוח שהוגש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51CA00A9-E164-4508-90A6-77223BDE4DA0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54474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לבן 7">
            <a:extLst>
              <a:ext uri="{FF2B5EF4-FFF2-40B4-BE49-F238E27FC236}">
                <a16:creationId xmlns:a16="http://schemas.microsoft.com/office/drawing/2014/main" id="{0C9F3249-52EF-458D-A9DC-ADA99A988137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11125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התקנת Ollama ב־Windows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6FBB1370-C5B4-44A1-9222-F0483E594A88}"/>
              </a:ext>
            </a:extLst>
          </p:cNvPr>
          <p:cNvSpPr>
            <a:spLocks noGrp="1"/>
          </p:cNvSpPr>
          <p:nvPr/>
        </p:nvSpPr>
        <p:spPr>
          <a:xfrm>
            <a:off x="8334375" y="1619250"/>
            <a:ext cx="3324225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Ollama מאפשר להפעיל מודל שפה על המחשב שלנו.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589B85EB-7BDE-4360-A49E-969B3E4FA601}"/>
              </a:ext>
            </a:extLst>
          </p:cNvPr>
          <p:cNvSpPr>
            <a:spLocks noGrp="1"/>
          </p:cNvSpPr>
          <p:nvPr/>
        </p:nvSpPr>
        <p:spPr>
          <a:xfrm>
            <a:off x="8334375" y="2876550"/>
            <a:ext cx="3324225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1. נכנסים לעמוד ההורדה הרשמי ובוחרים Windows.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ECD468CB-B94E-48F9-878E-202E626480DC}"/>
              </a:ext>
            </a:extLst>
          </p:cNvPr>
          <p:cNvSpPr>
            <a:spLocks noGrp="1"/>
          </p:cNvSpPr>
          <p:nvPr/>
        </p:nvSpPr>
        <p:spPr>
          <a:xfrm>
            <a:off x="8334375" y="4133850"/>
            <a:ext cx="3324225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2. מעתיקים את פקודת PowerShell שמופיעה באתר.</a:t>
            </a:r>
          </a:p>
        </p:txBody>
      </p:sp>
      <p:pic>
        <p:nvPicPr>
          <p:cNvPr id="12" name="תמונה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7893" y="1609725"/>
            <a:ext cx="6166215" cy="4238625"/>
          </a:xfrm>
          <a:prstGeom prst="rect">
            <a:avLst/>
          </a:prstGeom>
        </p:spPr>
      </p:pic>
      <p:sp>
        <p:nvSpPr>
          <p:cNvPr id="6" name="מלבן 5">
            <a:extLst>
              <a:ext uri="{FF2B5EF4-FFF2-40B4-BE49-F238E27FC236}">
                <a16:creationId xmlns:a16="http://schemas.microsoft.com/office/drawing/2014/main" id="{28A3BF3C-944B-4374-A6C3-F3D20ED16C0F}"/>
              </a:ext>
            </a:extLst>
          </p:cNvPr>
          <p:cNvSpPr>
            <a:spLocks noGrp="1"/>
          </p:cNvSpPr>
          <p:nvPr/>
        </p:nvSpPr>
        <p:spPr>
          <a:xfrm>
            <a:off x="533400" y="6038850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1650" b="0">
                <a:solidFill>
                  <a:srgbClr val="337F7E"/>
                </a:solidFill>
                <a:latin typeface="Arial"/>
                <a:ea typeface="Arial"/>
                <a:cs typeface="Arial"/>
              </a:defRPr>
            </a:pPr>
            <a:r>
              <a:rPr lang="he-IL" sz="1650" b="0">
                <a:solidFill>
                  <a:srgbClr val="337F7E"/>
                </a:solidFill>
                <a:latin typeface="Arial"/>
                <a:ea typeface="Arial"/>
                <a:cs typeface="Arial"/>
                <a:hlinkClick r:id="rId4"/>
              </a:rPr>
              <a:t>לעמוד ההורדה הרשמי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2EEAF306-A412-46AC-ACDE-84FDFF25021A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48947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9CDDEB3F-5E67-4DE4-B7C2-FCB74CD5D57B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11125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ההתקנה ב־PowerShell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954ECB74-32A6-496D-9365-287F38F7CD09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108013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325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325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פותחים PowerShell, מדביקים את הפקודה ולוחצים Enter.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DA587E1D-02B3-44EE-87BB-E0B6B9419615}"/>
              </a:ext>
            </a:extLst>
          </p:cNvPr>
          <p:cNvSpPr>
            <a:spLocks noGrp="1"/>
          </p:cNvSpPr>
          <p:nvPr/>
        </p:nvSpPr>
        <p:spPr>
          <a:xfrm>
            <a:off x="857250" y="2295525"/>
            <a:ext cx="108013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325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325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ממתינים לסיום ההתקנה, ואז פותחים חלון PowerShell חדש.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75123CEE-E4E1-4F4C-BE94-95F690FA714E}"/>
              </a:ext>
            </a:extLst>
          </p:cNvPr>
          <p:cNvSpPr>
            <a:spLocks noGrp="1"/>
          </p:cNvSpPr>
          <p:nvPr/>
        </p:nvSpPr>
        <p:spPr>
          <a:xfrm>
            <a:off x="857250" y="3381375"/>
            <a:ext cx="10668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2400" b="0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3F3B"/>
                </a:solidFill>
                <a:latin typeface="Arial"/>
                <a:ea typeface="Arial"/>
                <a:cs typeface="Arial"/>
              </a:rPr>
              <a:t>irm https://ollama.com/install.ps1 | iex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9008A124-240A-4633-89B3-A8B9EDE6DE6C}"/>
              </a:ext>
            </a:extLst>
          </p:cNvPr>
          <p:cNvSpPr>
            <a:spLocks noGrp="1"/>
          </p:cNvSpPr>
          <p:nvPr/>
        </p:nvSpPr>
        <p:spPr>
          <a:xfrm>
            <a:off x="533400" y="6067425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אפשר גם להוריד את מתקין Windows מהאתר ולהשלים התקנה גרפית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9F2C69B3-403D-4DBD-8EEC-4DE912D4C963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AD8433F2-FFB5-4F1A-ABAF-76E6886F3526}"/>
              </a:ext>
            </a:extLst>
          </p:cNvPr>
          <p:cNvSpPr>
            <a:spLocks noGrp="1"/>
          </p:cNvSpPr>
          <p:nvPr/>
        </p:nvSpPr>
        <p:spPr>
          <a:xfrm>
            <a:off x="857250" y="449580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210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10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בדיקת ההתקנה בחלון PowerShell חדש: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4C01F531-4C8B-4ED9-A7FD-4B953E0A1B3B}"/>
              </a:ext>
            </a:extLst>
          </p:cNvPr>
          <p:cNvSpPr>
            <a:spLocks noGrp="1"/>
          </p:cNvSpPr>
          <p:nvPr/>
        </p:nvSpPr>
        <p:spPr>
          <a:xfrm>
            <a:off x="857250" y="51625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400" b="0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3F3B"/>
                </a:solidFill>
                <a:latin typeface="Arial"/>
                <a:ea typeface="Arial"/>
                <a:cs typeface="Arial"/>
              </a:rPr>
              <a:t>ollama --version</a:t>
            </a:r>
          </a:p>
        </p:txBody>
      </p:sp>
    </p:spTree>
    <p:extLst>
      <p:ext uri="{BB962C8B-B14F-4D97-AF65-F5344CB8AC3E}">
        <p14:creationId xmlns:p14="http://schemas.microsoft.com/office/powerpoint/2010/main" val="91601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380972D5-1DA3-45D2-AF36-0886135B0225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11125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בחירת מודל מקומי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F1FFE59F-330D-4056-8DA7-6D919DFCA324}"/>
              </a:ext>
            </a:extLst>
          </p:cNvPr>
          <p:cNvSpPr>
            <a:spLocks noGrp="1"/>
          </p:cNvSpPr>
          <p:nvPr/>
        </p:nvSpPr>
        <p:spPr>
          <a:xfrm>
            <a:off x="8334375" y="1619250"/>
            <a:ext cx="33242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1. פותחים את עמוד Gemma באתר Ollama.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D4951E7F-D476-4B2B-BE65-B187894DF386}"/>
              </a:ext>
            </a:extLst>
          </p:cNvPr>
          <p:cNvSpPr>
            <a:spLocks noGrp="1"/>
          </p:cNvSpPr>
          <p:nvPr/>
        </p:nvSpPr>
        <p:spPr>
          <a:xfrm>
            <a:off x="8334375" y="2705100"/>
            <a:ext cx="332422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2. בוחרים את הדגם המקומי שבפקודה המופיעה כאן.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42DD3E41-A59D-41B5-AAC0-DC5BAB992512}"/>
              </a:ext>
            </a:extLst>
          </p:cNvPr>
          <p:cNvSpPr>
            <a:spLocks noGrp="1"/>
          </p:cNvSpPr>
          <p:nvPr/>
        </p:nvSpPr>
        <p:spPr>
          <a:xfrm>
            <a:off x="8334375" y="3867150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3. מעתיקים את פקודת ההרצה כפי שהיא, באנגלית.</a:t>
            </a:r>
          </a:p>
        </p:txBody>
      </p:sp>
      <p:pic>
        <p:nvPicPr>
          <p:cNvPr id="13" name="תמונה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1962930"/>
            <a:ext cx="7391400" cy="2665441"/>
          </a:xfrm>
          <a:prstGeom prst="rect">
            <a:avLst/>
          </a:prstGeom>
        </p:spPr>
      </p:pic>
      <p:sp>
        <p:nvSpPr>
          <p:cNvPr id="6" name="מלבן 5">
            <a:extLst>
              <a:ext uri="{FF2B5EF4-FFF2-40B4-BE49-F238E27FC236}">
                <a16:creationId xmlns:a16="http://schemas.microsoft.com/office/drawing/2014/main" id="{620F8896-D3FB-40A9-8E79-3D47C2F1F2EF}"/>
              </a:ext>
            </a:extLst>
          </p:cNvPr>
          <p:cNvSpPr>
            <a:spLocks noGrp="1"/>
          </p:cNvSpPr>
          <p:nvPr/>
        </p:nvSpPr>
        <p:spPr>
          <a:xfrm>
            <a:off x="666750" y="5314950"/>
            <a:ext cx="719137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2250" b="0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3F3B"/>
                </a:solidFill>
                <a:latin typeface="Arial"/>
                <a:ea typeface="Arial"/>
                <a:cs typeface="Arial"/>
              </a:rPr>
              <a:t>ollama run gemma4:e2b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5E901991-CD00-4568-AFD3-1BADF1E05FD7}"/>
              </a:ext>
            </a:extLst>
          </p:cNvPr>
          <p:cNvSpPr>
            <a:spLocks noGrp="1"/>
          </p:cNvSpPr>
          <p:nvPr/>
        </p:nvSpPr>
        <p:spPr>
          <a:xfrm>
            <a:off x="533400" y="6067425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גודל ההורדה: 7.2 ג׳יגה־בייט. הזיכרון הדרוש תלוי במודל, בחלון ההקשר ובחומרה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44566E4B-5706-4E42-9BAE-360F190D9214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72716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4C9C6D72-5A6F-415D-8B23-571992A0A8D0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11125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שיחה ראשונה עם המודל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03A0493D-FE17-4383-88C6-FAB2CFBD7CBB}"/>
              </a:ext>
            </a:extLst>
          </p:cNvPr>
          <p:cNvSpPr>
            <a:spLocks noGrp="1"/>
          </p:cNvSpPr>
          <p:nvPr/>
        </p:nvSpPr>
        <p:spPr>
          <a:xfrm>
            <a:off x="857250" y="1524000"/>
            <a:ext cx="108013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40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40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מריצים את הפקודה וממתינים להורדה הראשונה.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8F8D90A0-A3BE-4F15-9B8E-2C8E89580A59}"/>
              </a:ext>
            </a:extLst>
          </p:cNvPr>
          <p:cNvSpPr>
            <a:spLocks noGrp="1"/>
          </p:cNvSpPr>
          <p:nvPr/>
        </p:nvSpPr>
        <p:spPr>
          <a:xfrm>
            <a:off x="857250" y="2371725"/>
            <a:ext cx="108013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025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025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לאחר שמופיע שדה ההודעה, כותבים למשל: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A25F559C-C0BA-464D-9819-E1B663358FC7}"/>
              </a:ext>
            </a:extLst>
          </p:cNvPr>
          <p:cNvSpPr>
            <a:spLocks noGrp="1"/>
          </p:cNvSpPr>
          <p:nvPr/>
        </p:nvSpPr>
        <p:spPr>
          <a:xfrm>
            <a:off x="857250" y="3095625"/>
            <a:ext cx="10801350" cy="1200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70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70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״הסבר בעברית פשוטה מהו מודל שפה מקומי,</a:t>
            </a:r>
          </a:p>
          <a:p>
            <a:pPr algn="r" rtl="1">
              <a:lnSpc>
                <a:spcPct val="114000"/>
              </a:lnSpc>
              <a:buNone/>
              <a:defRPr lang="he-IL" sz="270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70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ותן דוגמה לשימוש בו בשיעור.״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6407209A-499C-4948-BD9C-ABE681B697FB}"/>
              </a:ext>
            </a:extLst>
          </p:cNvPr>
          <p:cNvSpPr>
            <a:spLocks noGrp="1"/>
          </p:cNvSpPr>
          <p:nvPr/>
        </p:nvSpPr>
        <p:spPr>
          <a:xfrm>
            <a:off x="857250" y="4429125"/>
            <a:ext cx="1080135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175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175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תשובה שמופיעה במסוף מאפשרת לבדוק שהמודל מגיב.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220461CC-050D-48BE-A3F1-71795B5AD382}"/>
              </a:ext>
            </a:extLst>
          </p:cNvPr>
          <p:cNvSpPr>
            <a:spLocks noGrp="1"/>
          </p:cNvSpPr>
          <p:nvPr/>
        </p:nvSpPr>
        <p:spPr>
          <a:xfrm>
            <a:off x="857250" y="5391150"/>
            <a:ext cx="1809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2550" b="0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3F3B"/>
                </a:solidFill>
                <a:latin typeface="Arial"/>
                <a:ea typeface="Arial"/>
                <a:cs typeface="Arial"/>
              </a:rPr>
              <a:t>/bye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F5725946-56CF-4EC4-8F4C-992649128F80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2170CE38-3DC8-47F7-B5F4-AA35D03FABD5}"/>
              </a:ext>
            </a:extLst>
          </p:cNvPr>
          <p:cNvSpPr>
            <a:spLocks noGrp="1"/>
          </p:cNvSpPr>
          <p:nvPr/>
        </p:nvSpPr>
        <p:spPr>
          <a:xfrm>
            <a:off x="3048000" y="5372100"/>
            <a:ext cx="8477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210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10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ליציאה מהשיחה וחזרה ל־PowerShell:</a:t>
            </a:r>
          </a:p>
        </p:txBody>
      </p:sp>
    </p:spTree>
    <p:extLst>
      <p:ext uri="{BB962C8B-B14F-4D97-AF65-F5344CB8AC3E}">
        <p14:creationId xmlns:p14="http://schemas.microsoft.com/office/powerpoint/2010/main" val="79513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לבן 7">
            <a:extLst>
              <a:ext uri="{FF2B5EF4-FFF2-40B4-BE49-F238E27FC236}">
                <a16:creationId xmlns:a16="http://schemas.microsoft.com/office/drawing/2014/main" id="{033453A6-F2FB-4A84-8AE2-2FCA7695BA7F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11125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מהו Hermes Agent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DD51DBC9-79EE-4D0D-AC25-256DD536B3AC}"/>
              </a:ext>
            </a:extLst>
          </p:cNvPr>
          <p:cNvSpPr>
            <a:spLocks noGrp="1"/>
          </p:cNvSpPr>
          <p:nvPr/>
        </p:nvSpPr>
        <p:spPr>
          <a:xfrm>
            <a:off x="857250" y="1638300"/>
            <a:ext cx="10801350" cy="1304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5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5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Hermes הוא סוכן AI בקוד פתוח של Nous Research.</a:t>
            </a:r>
          </a:p>
          <a:p>
            <a:pPr algn="r" rtl="1">
              <a:lnSpc>
                <a:spcPct val="114000"/>
              </a:lnSpc>
              <a:buNone/>
              <a:defRPr lang="he-IL" sz="25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5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הוא משתמש במודל שפה ובכלים כדי לבצע משימות בשלבים.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1B8E5DA4-5E48-44BB-AAF5-210CA2CED4D5}"/>
              </a:ext>
            </a:extLst>
          </p:cNvPr>
          <p:cNvSpPr>
            <a:spLocks noGrp="1"/>
          </p:cNvSpPr>
          <p:nvPr/>
        </p:nvSpPr>
        <p:spPr>
          <a:xfrm>
            <a:off x="857250" y="3076575"/>
            <a:ext cx="1080135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40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40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הסוכן יכול לעבוד עם קבצים, לשמור זיכרון בין שיחות</a:t>
            </a:r>
          </a:p>
          <a:p>
            <a:pPr algn="r" rtl="1">
              <a:lnSpc>
                <a:spcPct val="114000"/>
              </a:lnSpc>
              <a:buNone/>
              <a:defRPr lang="he-IL" sz="240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40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וליצור סקילים למשימות חוזרות.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C427B8C0-A15A-44F6-B2BD-25D69A1D4F21}"/>
              </a:ext>
            </a:extLst>
          </p:cNvPr>
          <p:cNvSpPr>
            <a:spLocks noGrp="1"/>
          </p:cNvSpPr>
          <p:nvPr/>
        </p:nvSpPr>
        <p:spPr>
          <a:xfrm>
            <a:off x="533400" y="6067425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מתקינים דרך Ollama. בהמשך מגדירים חיבור למודל בענן דרך OpenRouter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DFCC3EAF-81A5-46F2-B7FD-E58FAAA23C4C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15A9A6F2-A5D4-45D4-8477-D87D76213422}"/>
              </a:ext>
            </a:extLst>
          </p:cNvPr>
          <p:cNvSpPr>
            <a:spLocks noGrp="1"/>
          </p:cNvSpPr>
          <p:nvPr/>
        </p:nvSpPr>
        <p:spPr>
          <a:xfrm>
            <a:off x="6191250" y="5010150"/>
            <a:ext cx="5334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2400" b="1">
                <a:solidFill>
                  <a:srgbClr val="337F7E"/>
                </a:solidFill>
                <a:latin typeface="Arial"/>
                <a:ea typeface="Arial"/>
                <a:cs typeface="Arial"/>
              </a:defRPr>
            </a:pPr>
            <a:r>
              <a:rPr lang="he-IL" sz="2400" b="1">
                <a:solidFill>
                  <a:srgbClr val="337F7E"/>
                </a:solidFill>
                <a:latin typeface="Arial"/>
                <a:ea typeface="Arial"/>
                <a:cs typeface="Arial"/>
              </a:rPr>
              <a:t>המודל: מקומי או בענן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F9889485-174C-4414-8B13-24D2CF41E5AE}"/>
              </a:ext>
            </a:extLst>
          </p:cNvPr>
          <p:cNvSpPr>
            <a:spLocks noGrp="1"/>
          </p:cNvSpPr>
          <p:nvPr/>
        </p:nvSpPr>
        <p:spPr>
          <a:xfrm>
            <a:off x="571500" y="5010150"/>
            <a:ext cx="5334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2250" b="1">
                <a:solidFill>
                  <a:srgbClr val="337F7E"/>
                </a:solidFill>
                <a:latin typeface="Arial"/>
                <a:ea typeface="Arial"/>
                <a:cs typeface="Arial"/>
              </a:defRPr>
            </a:pPr>
            <a:r>
              <a:rPr lang="he-IL" sz="2250" b="1">
                <a:solidFill>
                  <a:srgbClr val="337F7E"/>
                </a:solidFill>
                <a:latin typeface="Arial"/>
                <a:ea typeface="Arial"/>
                <a:cs typeface="Arial"/>
              </a:rPr>
              <a:t>Hermes מנהל את המשימה והכלים</a:t>
            </a:r>
          </a:p>
        </p:txBody>
      </p:sp>
    </p:spTree>
    <p:extLst>
      <p:ext uri="{BB962C8B-B14F-4D97-AF65-F5344CB8AC3E}">
        <p14:creationId xmlns:p14="http://schemas.microsoft.com/office/powerpoint/2010/main" val="614858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>
            <a:extLst>
              <a:ext uri="{FF2B5EF4-FFF2-40B4-BE49-F238E27FC236}">
                <a16:creationId xmlns:a16="http://schemas.microsoft.com/office/drawing/2014/main" id="{94AE115D-DE11-40A9-B5F0-84987FDD9680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11125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התקנת Hermes דרך Ollama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4340C34F-4E78-49DA-B246-A2C119579420}"/>
              </a:ext>
            </a:extLst>
          </p:cNvPr>
          <p:cNvSpPr>
            <a:spLocks noGrp="1"/>
          </p:cNvSpPr>
          <p:nvPr/>
        </p:nvSpPr>
        <p:spPr>
          <a:xfrm>
            <a:off x="8334375" y="1619250"/>
            <a:ext cx="3324225" cy="1257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1. מוודאים ש־Ollama מעודכן ופותחים PowerShell חדש.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AD964E55-6E87-4C73-A2D6-DB41BAD31897}"/>
              </a:ext>
            </a:extLst>
          </p:cNvPr>
          <p:cNvSpPr>
            <a:spLocks noGrp="1"/>
          </p:cNvSpPr>
          <p:nvPr/>
        </p:nvSpPr>
        <p:spPr>
          <a:xfrm>
            <a:off x="8334375" y="3009900"/>
            <a:ext cx="3324225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2. מריצים את הפקודה המופיעה כאן.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E55DAC0F-C2BC-44A0-9EA2-AF4DFC80B04C}"/>
              </a:ext>
            </a:extLst>
          </p:cNvPr>
          <p:cNvSpPr>
            <a:spLocks noGrp="1"/>
          </p:cNvSpPr>
          <p:nvPr/>
        </p:nvSpPr>
        <p:spPr>
          <a:xfrm>
            <a:off x="8334375" y="4076700"/>
            <a:ext cx="3324225" cy="1257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3. אם Hermes חסר, מאשרים את הצעת ההתקנה.</a:t>
            </a:r>
          </a:p>
        </p:txBody>
      </p:sp>
      <p:pic>
        <p:nvPicPr>
          <p:cNvPr id="13" name="תמונה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07305" y="1638300"/>
            <a:ext cx="4767389" cy="3314700"/>
          </a:xfrm>
          <a:prstGeom prst="rect">
            <a:avLst/>
          </a:prstGeom>
        </p:spPr>
      </p:pic>
      <p:sp>
        <p:nvSpPr>
          <p:cNvPr id="6" name="מלבן 5">
            <a:extLst>
              <a:ext uri="{FF2B5EF4-FFF2-40B4-BE49-F238E27FC236}">
                <a16:creationId xmlns:a16="http://schemas.microsoft.com/office/drawing/2014/main" id="{0A15BF35-B9D8-4D9B-B9A4-1AEFA856005B}"/>
              </a:ext>
            </a:extLst>
          </p:cNvPr>
          <p:cNvSpPr>
            <a:spLocks noGrp="1"/>
          </p:cNvSpPr>
          <p:nvPr/>
        </p:nvSpPr>
        <p:spPr>
          <a:xfrm>
            <a:off x="619125" y="5267325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2400" b="0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53F3B"/>
                </a:solidFill>
                <a:latin typeface="Arial"/>
                <a:ea typeface="Arial"/>
                <a:cs typeface="Arial"/>
              </a:rPr>
              <a:t>ollama launch hermes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DC5D9860-527A-40DF-87F5-A6CF1B65D0FC}"/>
              </a:ext>
            </a:extLst>
          </p:cNvPr>
          <p:cNvSpPr>
            <a:spLocks noGrp="1"/>
          </p:cNvSpPr>
          <p:nvPr/>
        </p:nvSpPr>
        <p:spPr>
          <a:xfrm>
            <a:off x="533400" y="6067425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הפקודה מתקינה את הסוכן. באשף ההגדרות אפשר לבחור ספק אחר.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EB5F6895-6405-4559-A87C-3B31D3D2B730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22126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לבן 7">
            <a:extLst>
              <a:ext uri="{FF2B5EF4-FFF2-40B4-BE49-F238E27FC236}">
                <a16:creationId xmlns:a16="http://schemas.microsoft.com/office/drawing/2014/main" id="{E27DA064-A85E-40ED-98F3-02AE5F66FA6F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11125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המסלול המקומי דרך Ollama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49029736-E116-4D01-AF7D-4741225DD44F}"/>
              </a:ext>
            </a:extLst>
          </p:cNvPr>
          <p:cNvSpPr>
            <a:spLocks noGrp="1"/>
          </p:cNvSpPr>
          <p:nvPr/>
        </p:nvSpPr>
        <p:spPr>
          <a:xfrm>
            <a:off x="952500" y="1552575"/>
            <a:ext cx="106108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1. בוחרים בבורר מודל מקומי שמתאים לחומרת המחשב ותומך בכלים.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EB7FD908-B0B9-49DE-BA5F-94218BDD18BC}"/>
              </a:ext>
            </a:extLst>
          </p:cNvPr>
          <p:cNvSpPr>
            <a:spLocks noGrp="1"/>
          </p:cNvSpPr>
          <p:nvPr/>
        </p:nvSpPr>
        <p:spPr>
          <a:xfrm>
            <a:off x="952500" y="2600325"/>
            <a:ext cx="1061085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2. ממתינים להגדרת החיבור האוטומטית.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858EE65F-C03E-4955-A145-14FDFDD2AFC7}"/>
              </a:ext>
            </a:extLst>
          </p:cNvPr>
          <p:cNvSpPr>
            <a:spLocks noGrp="1"/>
          </p:cNvSpPr>
          <p:nvPr/>
        </p:nvSpPr>
        <p:spPr>
          <a:xfrm>
            <a:off x="952500" y="3533775"/>
            <a:ext cx="1061085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3. בחיבור לשירותי הודעות בוחרים Skip ומתחילים בשיחה.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B068DF4F-C8A7-4FA3-A692-F53C11214162}"/>
              </a:ext>
            </a:extLst>
          </p:cNvPr>
          <p:cNvSpPr>
            <a:spLocks noGrp="1"/>
          </p:cNvSpPr>
          <p:nvPr/>
        </p:nvSpPr>
        <p:spPr>
          <a:xfrm>
            <a:off x="952500" y="4467225"/>
            <a:ext cx="1061085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4. מתחילים במשימה קטנה בתיקיית תרגול ובודקים את הקובץ שנוצר.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DF533FBF-EF85-44BB-B96E-7E616B296B6E}"/>
              </a:ext>
            </a:extLst>
          </p:cNvPr>
          <p:cNvSpPr>
            <a:spLocks noGrp="1"/>
          </p:cNvSpPr>
          <p:nvPr/>
        </p:nvSpPr>
        <p:spPr>
          <a:xfrm>
            <a:off x="533400" y="6067425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זהו מסלול מקומי אפשרי. אחרי הסרטון נדגים חיבור למודל בענן דרך OpenRouter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8D9A74E9-4B11-4F28-B9A2-A66E80821FA7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03252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>
            <a:extLst>
              <a:ext uri="{FF2B5EF4-FFF2-40B4-BE49-F238E27FC236}">
                <a16:creationId xmlns:a16="http://schemas.microsoft.com/office/drawing/2014/main" id="{670E546A-1142-4984-915F-A9098355E955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11125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הגדרה מלאה עם OpenRouter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ECB8D91F-AE5A-4BC3-A697-AC52FCC0E64D}"/>
              </a:ext>
            </a:extLst>
          </p:cNvPr>
          <p:cNvSpPr>
            <a:spLocks noGrp="1"/>
          </p:cNvSpPr>
          <p:nvPr/>
        </p:nvSpPr>
        <p:spPr>
          <a:xfrm>
            <a:off x="857250" y="1619250"/>
            <a:ext cx="1080135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5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5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מתקינים את Hermes דרך Ollama, ואז פותחים את אשף ההגדרות המלא.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CD3042ED-28B8-4295-BDF2-513C0C2A681D}"/>
              </a:ext>
            </a:extLst>
          </p:cNvPr>
          <p:cNvSpPr>
            <a:spLocks noGrp="1"/>
          </p:cNvSpPr>
          <p:nvPr/>
        </p:nvSpPr>
        <p:spPr>
          <a:xfrm>
            <a:off x="857250" y="2857500"/>
            <a:ext cx="1080135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5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5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בוחרים OpenRouter ומודל מתוך הקטלוג שלו.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2B71BB30-949E-41DB-BDEF-2DDD340A21AF}"/>
              </a:ext>
            </a:extLst>
          </p:cNvPr>
          <p:cNvSpPr>
            <a:spLocks noGrp="1"/>
          </p:cNvSpPr>
          <p:nvPr/>
        </p:nvSpPr>
        <p:spPr>
          <a:xfrm>
            <a:off x="857250" y="3810000"/>
            <a:ext cx="1080135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40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40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בהדגמה מזינים מפתח דמה. להפעלת המודל נדרש מפתח אישי תקף.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88A630B2-9C12-48A6-882C-2FB5F6389274}"/>
              </a:ext>
            </a:extLst>
          </p:cNvPr>
          <p:cNvSpPr>
            <a:spLocks noGrp="1"/>
          </p:cNvSpPr>
          <p:nvPr/>
        </p:nvSpPr>
        <p:spPr>
          <a:xfrm>
            <a:off x="533400" y="6067425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המודל פועל בענן. את כלי הקבצים והמסוף נגדיר להפעלה במחשב.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3F8E4C83-4B03-4A6B-882D-E2F7ED651105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26024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>
            <a:extLst>
              <a:ext uri="{FF2B5EF4-FFF2-40B4-BE49-F238E27FC236}">
                <a16:creationId xmlns:a16="http://schemas.microsoft.com/office/drawing/2014/main" id="{5D1825E5-0550-4C8B-AA80-74237ACCB1AD}"/>
              </a:ext>
            </a:extLst>
          </p:cNvPr>
          <p:cNvSpPr>
            <a:spLocks noGrp="1"/>
          </p:cNvSpPr>
          <p:nvPr/>
        </p:nvSpPr>
        <p:spPr>
          <a:xfrm>
            <a:off x="533400" y="285750"/>
            <a:ext cx="111252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אישור התקנת Hermes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7F872358-0486-4667-A317-C3EF04ABF4BB}"/>
              </a:ext>
            </a:extLst>
          </p:cNvPr>
          <p:cNvSpPr>
            <a:spLocks noGrp="1"/>
          </p:cNvSpPr>
          <p:nvPr/>
        </p:nvSpPr>
        <p:spPr>
          <a:xfrm>
            <a:off x="571500" y="1190625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175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175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הפקודה מזהה שהסוכן חסר ומציגה בקשה להתקין אותו.</a:t>
            </a:r>
          </a:p>
        </p:txBody>
      </p:sp>
      <p:pic>
        <p:nvPicPr>
          <p:cNvPr id="9" name="תמונה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" y="2110433"/>
            <a:ext cx="10953750" cy="2970508"/>
          </a:xfrm>
          <a:prstGeom prst="rect">
            <a:avLst/>
          </a:prstGeom>
        </p:spPr>
      </p:pic>
      <p:sp>
        <p:nvSpPr>
          <p:cNvPr id="4" name="מלבן 3">
            <a:extLst>
              <a:ext uri="{FF2B5EF4-FFF2-40B4-BE49-F238E27FC236}">
                <a16:creationId xmlns:a16="http://schemas.microsoft.com/office/drawing/2014/main" id="{12E5AF28-462A-4E3D-B490-7C4091D91255}"/>
              </a:ext>
            </a:extLst>
          </p:cNvPr>
          <p:cNvSpPr>
            <a:spLocks noGrp="1"/>
          </p:cNvSpPr>
          <p:nvPr/>
        </p:nvSpPr>
        <p:spPr>
          <a:xfrm>
            <a:off x="533400" y="6067425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1500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lang="he-IL" sz="1500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צילום של פלט PowerShell אמיתי בתצוגת דפדפן לקריאה בלבד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F56E073C-B09C-44CA-B418-46B14BB347EC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FBE386EF-D571-48A1-BB4B-C17C9DC5E1CF}"/>
              </a:ext>
            </a:extLst>
          </p:cNvPr>
          <p:cNvSpPr>
            <a:spLocks noGrp="1"/>
          </p:cNvSpPr>
          <p:nvPr/>
        </p:nvSpPr>
        <p:spPr>
          <a:xfrm>
            <a:off x="619125" y="5353050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2175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175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בוחרים Yes בעזרת מקשי החצים ולוחצים Enter.</a:t>
            </a:r>
          </a:p>
        </p:txBody>
      </p:sp>
    </p:spTree>
    <p:extLst>
      <p:ext uri="{BB962C8B-B14F-4D97-AF65-F5344CB8AC3E}">
        <p14:creationId xmlns:p14="http://schemas.microsoft.com/office/powerpoint/2010/main" val="1269752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>
            <a:extLst>
              <a:ext uri="{FF2B5EF4-FFF2-40B4-BE49-F238E27FC236}">
                <a16:creationId xmlns:a16="http://schemas.microsoft.com/office/drawing/2014/main" id="{7842D1C6-66A6-4561-9635-8A63B4E92DDA}"/>
              </a:ext>
            </a:extLst>
          </p:cNvPr>
          <p:cNvSpPr>
            <a:spLocks noGrp="1"/>
          </p:cNvSpPr>
          <p:nvPr/>
        </p:nvSpPr>
        <p:spPr>
          <a:xfrm>
            <a:off x="533400" y="238125"/>
            <a:ext cx="111252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הורדת רכיבי ההתקנה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DD857BB5-2266-4D51-B694-0440E2115523}"/>
              </a:ext>
            </a:extLst>
          </p:cNvPr>
          <p:cNvSpPr>
            <a:spLocks noGrp="1"/>
          </p:cNvSpPr>
          <p:nvPr/>
        </p:nvSpPr>
        <p:spPr>
          <a:xfrm>
            <a:off x="571500" y="1133475"/>
            <a:ext cx="11049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10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10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המתקין מוריד ופורס את הרכיבים הדרושים להפעלת Hermes.</a:t>
            </a:r>
          </a:p>
        </p:txBody>
      </p:sp>
      <p:pic>
        <p:nvPicPr>
          <p:cNvPr id="9" name="תמונה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" y="2394876"/>
            <a:ext cx="10953750" cy="2525448"/>
          </a:xfrm>
          <a:prstGeom prst="rect">
            <a:avLst/>
          </a:prstGeom>
        </p:spPr>
      </p:pic>
      <p:sp>
        <p:nvSpPr>
          <p:cNvPr id="4" name="מלבן 3">
            <a:extLst>
              <a:ext uri="{FF2B5EF4-FFF2-40B4-BE49-F238E27FC236}">
                <a16:creationId xmlns:a16="http://schemas.microsoft.com/office/drawing/2014/main" id="{CE7CBB8B-5AFB-485B-8870-99F811BE1E37}"/>
              </a:ext>
            </a:extLst>
          </p:cNvPr>
          <p:cNvSpPr>
            <a:spLocks noGrp="1"/>
          </p:cNvSpPr>
          <p:nvPr/>
        </p:nvSpPr>
        <p:spPr>
          <a:xfrm>
            <a:off x="533400" y="6200775"/>
            <a:ext cx="111252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1500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lang="he-IL" sz="1500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פלט אמיתי של ההתקנה בתצוגת דפדפן לקריאה בלבד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990C3F0C-F982-4741-BF14-1C614C7E14C3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AFC05C9A-58A2-44B5-926F-EE383748EB64}"/>
              </a:ext>
            </a:extLst>
          </p:cNvPr>
          <p:cNvSpPr>
            <a:spLocks noGrp="1"/>
          </p:cNvSpPr>
          <p:nvPr/>
        </p:nvSpPr>
        <p:spPr>
          <a:xfrm>
            <a:off x="619125" y="5524500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210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10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ממתינים לסיום ההתקנה לפני שממשיכים להגדרות.</a:t>
            </a:r>
          </a:p>
        </p:txBody>
      </p:sp>
    </p:spTree>
    <p:extLst>
      <p:ext uri="{BB962C8B-B14F-4D97-AF65-F5344CB8AC3E}">
        <p14:creationId xmlns:p14="http://schemas.microsoft.com/office/powerpoint/2010/main" val="736692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לבן 5">
            <a:extLst>
              <a:ext uri="{FF2B5EF4-FFF2-40B4-BE49-F238E27FC236}">
                <a16:creationId xmlns:a16="http://schemas.microsoft.com/office/drawing/2014/main" id="{5BAD89F7-1487-458F-98FC-5B93117A3628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111252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נתיב ההתקנה במחשב ההדגמה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927373BF-BBE3-46A6-BFC1-BFFE16ECCD08}"/>
              </a:ext>
            </a:extLst>
          </p:cNvPr>
          <p:cNvSpPr>
            <a:spLocks noGrp="1"/>
          </p:cNvSpPr>
          <p:nvPr/>
        </p:nvSpPr>
        <p:spPr>
          <a:xfrm>
            <a:off x="571500" y="1085850"/>
            <a:ext cx="11049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025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025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במחשב הזה נדרש נתיב משתמש קצר יותר. מגדירים אותו ומפעילים שוב את ההתקנה.</a:t>
            </a:r>
          </a:p>
        </p:txBody>
      </p:sp>
      <p:pic>
        <p:nvPicPr>
          <p:cNvPr id="8" name="תמונה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" y="2697499"/>
            <a:ext cx="10953750" cy="2320252"/>
          </a:xfrm>
          <a:prstGeom prst="rect">
            <a:avLst/>
          </a:prstGeom>
        </p:spPr>
      </p:pic>
      <p:sp>
        <p:nvSpPr>
          <p:cNvPr id="4" name="מלבן 3">
            <a:extLst>
              <a:ext uri="{FF2B5EF4-FFF2-40B4-BE49-F238E27FC236}">
                <a16:creationId xmlns:a16="http://schemas.microsoft.com/office/drawing/2014/main" id="{F324FBB2-7BDC-4B18-8083-8927C8FECCC5}"/>
              </a:ext>
            </a:extLst>
          </p:cNvPr>
          <p:cNvSpPr>
            <a:spLocks noGrp="1"/>
          </p:cNvSpPr>
          <p:nvPr/>
        </p:nvSpPr>
        <p:spPr>
          <a:xfrm>
            <a:off x="533400" y="6067425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זהו תיקון למחשב ההדגמה. בהתקנה שמסתיימת כרגיל ממשיכים לשלב הבא.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43689157-0B0A-40E1-BEDA-E2EDC48FA089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05096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לבן 5">
            <a:extLst>
              <a:ext uri="{FF2B5EF4-FFF2-40B4-BE49-F238E27FC236}">
                <a16:creationId xmlns:a16="http://schemas.microsoft.com/office/drawing/2014/main" id="{0CB233C7-C2B7-43D3-9005-7F7B5AB63193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111252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התקנת סביבת Hermes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E3818DD2-F863-45C5-B45E-6D31C46DD38F}"/>
              </a:ext>
            </a:extLst>
          </p:cNvPr>
          <p:cNvSpPr>
            <a:spLocks noGrp="1"/>
          </p:cNvSpPr>
          <p:nvPr/>
        </p:nvSpPr>
        <p:spPr>
          <a:xfrm>
            <a:off x="571500" y="1085850"/>
            <a:ext cx="11049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025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025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המתקין מתקין Python, יוצר סביבת עבודה ומוריד את חבילות התוכנה. ממתינים לסיום.</a:t>
            </a:r>
          </a:p>
        </p:txBody>
      </p:sp>
      <p:pic>
        <p:nvPicPr>
          <p:cNvPr id="8" name="תמונה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" y="2049986"/>
            <a:ext cx="10953750" cy="3615277"/>
          </a:xfrm>
          <a:prstGeom prst="rect">
            <a:avLst/>
          </a:prstGeom>
        </p:spPr>
      </p:pic>
      <p:sp>
        <p:nvSpPr>
          <p:cNvPr id="4" name="מלבן 3">
            <a:extLst>
              <a:ext uri="{FF2B5EF4-FFF2-40B4-BE49-F238E27FC236}">
                <a16:creationId xmlns:a16="http://schemas.microsoft.com/office/drawing/2014/main" id="{63C525BA-8D0C-4A0F-BC63-AB25BA25F019}"/>
              </a:ext>
            </a:extLst>
          </p:cNvPr>
          <p:cNvSpPr>
            <a:spLocks noGrp="1"/>
          </p:cNvSpPr>
          <p:nvPr/>
        </p:nvSpPr>
        <p:spPr>
          <a:xfrm>
            <a:off x="533400" y="6067425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אין צורך להפעיל ידנית את סביבת Python שמוזכרת בפלט.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B7340016-E707-4267-B29C-D50B335850D4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577491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לבן 5">
            <a:extLst>
              <a:ext uri="{FF2B5EF4-FFF2-40B4-BE49-F238E27FC236}">
                <a16:creationId xmlns:a16="http://schemas.microsoft.com/office/drawing/2014/main" id="{FF602C05-2547-4752-A3DB-2359D91048B8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111252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השלמת ההתקנה דרך Ollama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4E0B75B3-26EB-4FBA-93EE-271E924B593E}"/>
              </a:ext>
            </a:extLst>
          </p:cNvPr>
          <p:cNvSpPr>
            <a:spLocks noGrp="1"/>
          </p:cNvSpPr>
          <p:nvPr/>
        </p:nvSpPr>
        <p:spPr>
          <a:xfrm>
            <a:off x="571500" y="1085850"/>
            <a:ext cx="11049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025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025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אחרי הודעת ההצלחה יוצאים מבורר המודלים בעזרת Esc. ממשיכים לאשף Hermes כדי לבחור OpenRouter.</a:t>
            </a:r>
          </a:p>
        </p:txBody>
      </p:sp>
      <p:pic>
        <p:nvPicPr>
          <p:cNvPr id="8" name="תמונה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" y="3016073"/>
            <a:ext cx="10953750" cy="1683104"/>
          </a:xfrm>
          <a:prstGeom prst="rect">
            <a:avLst/>
          </a:prstGeom>
        </p:spPr>
      </p:pic>
      <p:sp>
        <p:nvSpPr>
          <p:cNvPr id="4" name="מלבן 3">
            <a:extLst>
              <a:ext uri="{FF2B5EF4-FFF2-40B4-BE49-F238E27FC236}">
                <a16:creationId xmlns:a16="http://schemas.microsoft.com/office/drawing/2014/main" id="{DAA05848-CF57-4479-A778-C6E82A6AB8ED}"/>
              </a:ext>
            </a:extLst>
          </p:cNvPr>
          <p:cNvSpPr>
            <a:spLocks noGrp="1"/>
          </p:cNvSpPr>
          <p:nvPr/>
        </p:nvSpPr>
        <p:spPr>
          <a:xfrm>
            <a:off x="533400" y="6067425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Hermes כבר מותקן בשלב הזה. היציאה מהבורר משאירה אותו מותקן.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BAF3B78F-D112-4139-B0C9-51ABEF0A6AD2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3527399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>
            <a:extLst>
              <a:ext uri="{FF2B5EF4-FFF2-40B4-BE49-F238E27FC236}">
                <a16:creationId xmlns:a16="http://schemas.microsoft.com/office/drawing/2014/main" id="{07F5E2A9-3C63-48B5-AB25-C5876664AF18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111252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פתיחת Full setup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412FE3D9-D79C-494B-A65E-1D2C51D5A32C}"/>
              </a:ext>
            </a:extLst>
          </p:cNvPr>
          <p:cNvSpPr>
            <a:spLocks noGrp="1"/>
          </p:cNvSpPr>
          <p:nvPr/>
        </p:nvSpPr>
        <p:spPr>
          <a:xfrm>
            <a:off x="571500" y="1085850"/>
            <a:ext cx="11049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025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025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פותחים PowerShell חדש, מריצים את הפקודה ובוחרים באפשרות Full setup. בצילום זו אפשרות 2.</a:t>
            </a:r>
          </a:p>
        </p:txBody>
      </p:sp>
      <p:pic>
        <p:nvPicPr>
          <p:cNvPr id="9" name="תמונה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8424" y="1905000"/>
            <a:ext cx="10415151" cy="3381375"/>
          </a:xfrm>
          <a:prstGeom prst="rect">
            <a:avLst/>
          </a:prstGeom>
        </p:spPr>
      </p:pic>
      <p:sp>
        <p:nvSpPr>
          <p:cNvPr id="4" name="מלבן 3">
            <a:extLst>
              <a:ext uri="{FF2B5EF4-FFF2-40B4-BE49-F238E27FC236}">
                <a16:creationId xmlns:a16="http://schemas.microsoft.com/office/drawing/2014/main" id="{91626E58-94C1-4CA6-A1EF-BF977AFD86CB}"/>
              </a:ext>
            </a:extLst>
          </p:cNvPr>
          <p:cNvSpPr>
            <a:spLocks noGrp="1"/>
          </p:cNvSpPr>
          <p:nvPr/>
        </p:nvSpPr>
        <p:spPr>
          <a:xfrm>
            <a:off x="762000" y="5391150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2175" b="0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F3B"/>
                </a:solidFill>
                <a:latin typeface="Arial"/>
                <a:ea typeface="Arial"/>
                <a:cs typeface="Arial"/>
              </a:rPr>
              <a:t>hermes setup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72FB9286-8398-4384-80F8-480C4FFA7383}"/>
              </a:ext>
            </a:extLst>
          </p:cNvPr>
          <p:cNvSpPr>
            <a:spLocks noGrp="1"/>
          </p:cNvSpPr>
          <p:nvPr/>
        </p:nvSpPr>
        <p:spPr>
          <a:xfrm>
            <a:off x="533400" y="6067425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מקלידים את מספר האפשרות ולוחצים Enter.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0EF379CB-874F-42D4-8BB3-E6C5627E193B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4242794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לבן 5">
            <a:extLst>
              <a:ext uri="{FF2B5EF4-FFF2-40B4-BE49-F238E27FC236}">
                <a16:creationId xmlns:a16="http://schemas.microsoft.com/office/drawing/2014/main" id="{12103C07-F729-4741-B3B7-E98ECAE32B2A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111252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קבצי ההגדרות וברירות המחדל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34F31B9E-5D0C-49BF-9A90-0F8C6FE48780}"/>
              </a:ext>
            </a:extLst>
          </p:cNvPr>
          <p:cNvSpPr>
            <a:spLocks noGrp="1"/>
          </p:cNvSpPr>
          <p:nvPr/>
        </p:nvSpPr>
        <p:spPr>
          <a:xfrm>
            <a:off x="571500" y="1085850"/>
            <a:ext cx="11049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025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025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האשף מציג היכן נשמרות ההגדרות ומחיל את ערכי ברירת המחדל. בשלב הזה אין צורך להזין דבר.</a:t>
            </a:r>
          </a:p>
        </p:txBody>
      </p:sp>
      <p:pic>
        <p:nvPicPr>
          <p:cNvPr id="8" name="תמונה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2316" y="1905000"/>
            <a:ext cx="10867368" cy="3905250"/>
          </a:xfrm>
          <a:prstGeom prst="rect">
            <a:avLst/>
          </a:prstGeom>
        </p:spPr>
      </p:pic>
      <p:sp>
        <p:nvSpPr>
          <p:cNvPr id="4" name="מלבן 3">
            <a:extLst>
              <a:ext uri="{FF2B5EF4-FFF2-40B4-BE49-F238E27FC236}">
                <a16:creationId xmlns:a16="http://schemas.microsoft.com/office/drawing/2014/main" id="{DDC7ECE5-BA58-47C7-B3C9-C868C00B74B0}"/>
              </a:ext>
            </a:extLst>
          </p:cNvPr>
          <p:cNvSpPr>
            <a:spLocks noGrp="1"/>
          </p:cNvSpPr>
          <p:nvPr/>
        </p:nvSpPr>
        <p:spPr>
          <a:xfrm>
            <a:off x="533400" y="6067425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אפשר לשנות את הגדרות הסוכן בהמשך באמצעות hermes setup agent.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36F8BB80-2E8E-4326-8177-F7C5C730D844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7028445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לבן 5">
            <a:extLst>
              <a:ext uri="{FF2B5EF4-FFF2-40B4-BE49-F238E27FC236}">
                <a16:creationId xmlns:a16="http://schemas.microsoft.com/office/drawing/2014/main" id="{FEB19B3F-4450-416B-A9BB-57907ED5D8EB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111252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בחירת OpenRouter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C0099D00-A3EF-46CB-AA5E-AABFDC09F7F9}"/>
              </a:ext>
            </a:extLst>
          </p:cNvPr>
          <p:cNvSpPr>
            <a:spLocks noGrp="1"/>
          </p:cNvSpPr>
          <p:nvPr/>
        </p:nvSpPr>
        <p:spPr>
          <a:xfrm>
            <a:off x="571500" y="1085850"/>
            <a:ext cx="11049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025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025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ברשימת הספקים בוחרים OpenRouter ומאשרים. בצילום זו אפשרות 3.</a:t>
            </a:r>
          </a:p>
        </p:txBody>
      </p:sp>
      <p:pic>
        <p:nvPicPr>
          <p:cNvPr id="8" name="תמונה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" y="2860449"/>
            <a:ext cx="10953750" cy="1994352"/>
          </a:xfrm>
          <a:prstGeom prst="rect">
            <a:avLst/>
          </a:prstGeom>
        </p:spPr>
      </p:pic>
      <p:sp>
        <p:nvSpPr>
          <p:cNvPr id="4" name="מלבן 3">
            <a:extLst>
              <a:ext uri="{FF2B5EF4-FFF2-40B4-BE49-F238E27FC236}">
                <a16:creationId xmlns:a16="http://schemas.microsoft.com/office/drawing/2014/main" id="{7B453401-CD2E-40F8-A5D0-222BA7EC0326}"/>
              </a:ext>
            </a:extLst>
          </p:cNvPr>
          <p:cNvSpPr>
            <a:spLocks noGrp="1"/>
          </p:cNvSpPr>
          <p:nvPr/>
        </p:nvSpPr>
        <p:spPr>
          <a:xfrm>
            <a:off x="533400" y="6067425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OpenRouter מחבר את הסוכן למודלים בענן דרך חשבון אחד.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829F276F-0267-44FF-8FE8-CDD6957A8576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9708568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>
            <a:extLst>
              <a:ext uri="{FF2B5EF4-FFF2-40B4-BE49-F238E27FC236}">
                <a16:creationId xmlns:a16="http://schemas.microsoft.com/office/drawing/2014/main" id="{A01A79F0-F564-4F73-B1BB-003B41176A33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111252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מפתח API להדגמה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A4AB7E00-0AFC-441B-9290-7A4E04B2E7CF}"/>
              </a:ext>
            </a:extLst>
          </p:cNvPr>
          <p:cNvSpPr>
            <a:spLocks noGrp="1"/>
          </p:cNvSpPr>
          <p:nvPr/>
        </p:nvSpPr>
        <p:spPr>
          <a:xfrm>
            <a:off x="571500" y="1085850"/>
            <a:ext cx="11049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025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025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מזינים את מפתח הדמה ומאשרים. במסוף ההקלדה מוסתרת בכוכביות.</a:t>
            </a:r>
          </a:p>
        </p:txBody>
      </p:sp>
      <p:pic>
        <p:nvPicPr>
          <p:cNvPr id="9" name="תמונה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" y="2811440"/>
            <a:ext cx="10953750" cy="1568495"/>
          </a:xfrm>
          <a:prstGeom prst="rect">
            <a:avLst/>
          </a:prstGeom>
        </p:spPr>
      </p:pic>
      <p:sp>
        <p:nvSpPr>
          <p:cNvPr id="4" name="מלבן 3">
            <a:extLst>
              <a:ext uri="{FF2B5EF4-FFF2-40B4-BE49-F238E27FC236}">
                <a16:creationId xmlns:a16="http://schemas.microsoft.com/office/drawing/2014/main" id="{ACFD0F51-364C-40C4-8406-A92613918867}"/>
              </a:ext>
            </a:extLst>
          </p:cNvPr>
          <p:cNvSpPr>
            <a:spLocks noGrp="1"/>
          </p:cNvSpPr>
          <p:nvPr/>
        </p:nvSpPr>
        <p:spPr>
          <a:xfrm>
            <a:off x="762000" y="5391150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2175" b="0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F3B"/>
                </a:solidFill>
                <a:latin typeface="Arial"/>
                <a:ea typeface="Arial"/>
                <a:cs typeface="Arial"/>
              </a:rPr>
              <a:t>sk-or-v1-DEMO-NOT-A-REAL-KEY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8E1DD734-F496-4EE1-9398-0EC4D03F57DE}"/>
              </a:ext>
            </a:extLst>
          </p:cNvPr>
          <p:cNvSpPr>
            <a:spLocks noGrp="1"/>
          </p:cNvSpPr>
          <p:nvPr/>
        </p:nvSpPr>
        <p:spPr>
          <a:xfrm>
            <a:off x="533400" y="6067425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מפתח דמה בלבד. הודעת השמירה אינה בדיקת תקינות או אישור גישה.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1B9B4763-716D-4263-ADFA-6CC51679F4CA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725403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>
            <a:extLst>
              <a:ext uri="{FF2B5EF4-FFF2-40B4-BE49-F238E27FC236}">
                <a16:creationId xmlns:a16="http://schemas.microsoft.com/office/drawing/2014/main" id="{83B641E9-83C8-4779-BB65-A99D7E0616FC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111252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בחירת מודל ב־OpenRouter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53696D89-AF6B-4DC8-BCA1-3E59FB5AF32E}"/>
              </a:ext>
            </a:extLst>
          </p:cNvPr>
          <p:cNvSpPr>
            <a:spLocks noGrp="1"/>
          </p:cNvSpPr>
          <p:nvPr/>
        </p:nvSpPr>
        <p:spPr>
          <a:xfrm>
            <a:off x="571500" y="1085850"/>
            <a:ext cx="11049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025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025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בוחרים את דגם Haiku שמופיע בצילום ומאשרים. בצילום זו אפשרות 6.</a:t>
            </a:r>
          </a:p>
        </p:txBody>
      </p:sp>
      <p:pic>
        <p:nvPicPr>
          <p:cNvPr id="9" name="תמונה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" y="2271953"/>
            <a:ext cx="10953750" cy="2647470"/>
          </a:xfrm>
          <a:prstGeom prst="rect">
            <a:avLst/>
          </a:prstGeom>
        </p:spPr>
      </p:pic>
      <p:sp>
        <p:nvSpPr>
          <p:cNvPr id="4" name="מלבן 3">
            <a:extLst>
              <a:ext uri="{FF2B5EF4-FFF2-40B4-BE49-F238E27FC236}">
                <a16:creationId xmlns:a16="http://schemas.microsoft.com/office/drawing/2014/main" id="{78458320-E4ED-4165-8040-D088E6C8AE45}"/>
              </a:ext>
            </a:extLst>
          </p:cNvPr>
          <p:cNvSpPr>
            <a:spLocks noGrp="1"/>
          </p:cNvSpPr>
          <p:nvPr/>
        </p:nvSpPr>
        <p:spPr>
          <a:xfrm>
            <a:off x="762000" y="5391150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2175" b="0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F3B"/>
                </a:solidFill>
                <a:latin typeface="Arial"/>
                <a:ea typeface="Arial"/>
                <a:cs typeface="Arial"/>
              </a:rPr>
              <a:t>anthropic/claude-haiku-4.5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EFD366CA-9807-497E-AD69-779B9F2DA458}"/>
              </a:ext>
            </a:extLst>
          </p:cNvPr>
          <p:cNvSpPr>
            <a:spLocks noGrp="1"/>
          </p:cNvSpPr>
          <p:nvPr/>
        </p:nvSpPr>
        <p:spPr>
          <a:xfrm>
            <a:off x="533400" y="6067425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אפשר לבחור מודל אחר מהקטלוג. זמינות ומחירים עשויים להשתנות.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11129643-B883-4B38-BFCE-77F268C74E1B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4096081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לבן 5">
            <a:extLst>
              <a:ext uri="{FF2B5EF4-FFF2-40B4-BE49-F238E27FC236}">
                <a16:creationId xmlns:a16="http://schemas.microsoft.com/office/drawing/2014/main" id="{A231C346-3112-4B7E-9AFB-B9CD1F5A6C27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111252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סביבת המסוף המקומית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2B53ECC6-8162-4CE9-B316-24B5DF5E2315}"/>
              </a:ext>
            </a:extLst>
          </p:cNvPr>
          <p:cNvSpPr>
            <a:spLocks noGrp="1"/>
          </p:cNvSpPr>
          <p:nvPr/>
        </p:nvSpPr>
        <p:spPr>
          <a:xfrm>
            <a:off x="571500" y="1085850"/>
            <a:ext cx="11049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025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025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בוחרים Local ומאשרים. המודל פועל בענן, והפקודות והקבצים מטופלים במחשב.</a:t>
            </a:r>
          </a:p>
        </p:txBody>
      </p:sp>
      <p:pic>
        <p:nvPicPr>
          <p:cNvPr id="8" name="תמונה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" y="2121952"/>
            <a:ext cx="10953750" cy="3471345"/>
          </a:xfrm>
          <a:prstGeom prst="rect">
            <a:avLst/>
          </a:prstGeom>
        </p:spPr>
      </p:pic>
      <p:sp>
        <p:nvSpPr>
          <p:cNvPr id="4" name="מלבן 3">
            <a:extLst>
              <a:ext uri="{FF2B5EF4-FFF2-40B4-BE49-F238E27FC236}">
                <a16:creationId xmlns:a16="http://schemas.microsoft.com/office/drawing/2014/main" id="{73B949AC-204C-4A5B-83C2-CCC043294C55}"/>
              </a:ext>
            </a:extLst>
          </p:cNvPr>
          <p:cNvSpPr>
            <a:spLocks noGrp="1"/>
          </p:cNvSpPr>
          <p:nvPr/>
        </p:nvSpPr>
        <p:spPr>
          <a:xfrm>
            <a:off x="533400" y="6067425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בצילום זו אפשרות 1. יש לתת לסוכן משימות בתוך תיקיית תרגול מוגדרת.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FA03AAF6-9C5E-4472-A3BF-C0B488DDC515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9804022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>
            <a:extLst>
              <a:ext uri="{FF2B5EF4-FFF2-40B4-BE49-F238E27FC236}">
                <a16:creationId xmlns:a16="http://schemas.microsoft.com/office/drawing/2014/main" id="{7226E80A-E928-4020-8557-D57075F3A018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111252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שירותי הודעות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B44F948B-CD93-4736-93D0-FF95C19B3ADE}"/>
              </a:ext>
            </a:extLst>
          </p:cNvPr>
          <p:cNvSpPr>
            <a:spLocks noGrp="1"/>
          </p:cNvSpPr>
          <p:nvPr/>
        </p:nvSpPr>
        <p:spPr>
          <a:xfrm>
            <a:off x="571500" y="1085850"/>
            <a:ext cx="11049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025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025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בהדגמה משאירים את כל השירותים ללא סימון ולוחצים Enter. אפשר לחבר שירות בהמשך.</a:t>
            </a:r>
          </a:p>
        </p:txBody>
      </p:sp>
      <p:pic>
        <p:nvPicPr>
          <p:cNvPr id="9" name="תמונה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" y="1911729"/>
            <a:ext cx="10953750" cy="3367917"/>
          </a:xfrm>
          <a:prstGeom prst="rect">
            <a:avLst/>
          </a:prstGeom>
        </p:spPr>
      </p:pic>
      <p:sp>
        <p:nvSpPr>
          <p:cNvPr id="4" name="מלבן 3">
            <a:extLst>
              <a:ext uri="{FF2B5EF4-FFF2-40B4-BE49-F238E27FC236}">
                <a16:creationId xmlns:a16="http://schemas.microsoft.com/office/drawing/2014/main" id="{82BA7E1A-2956-46ED-B8CF-290754AFE043}"/>
              </a:ext>
            </a:extLst>
          </p:cNvPr>
          <p:cNvSpPr>
            <a:spLocks noGrp="1"/>
          </p:cNvSpPr>
          <p:nvPr/>
        </p:nvSpPr>
        <p:spPr>
          <a:xfrm>
            <a:off x="762000" y="5391150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2175" b="0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F3B"/>
                </a:solidFill>
                <a:latin typeface="Arial"/>
                <a:ea typeface="Arial"/>
                <a:cs typeface="Arial"/>
              </a:rPr>
              <a:t>hermes setup gateway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22F69E3A-4508-4A8C-A46C-57922E6472A0}"/>
              </a:ext>
            </a:extLst>
          </p:cNvPr>
          <p:cNvSpPr>
            <a:spLocks noGrp="1"/>
          </p:cNvSpPr>
          <p:nvPr/>
        </p:nvSpPr>
        <p:spPr>
          <a:xfrm>
            <a:off x="533400" y="6067425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חיבור Telegram, WhatsApp או שירות אחר הוא שלב אופציונלי.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A98CABA7-D0BD-4E5C-BD41-B0EA7BAB00ED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0315278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לבן 5">
            <a:extLst>
              <a:ext uri="{FF2B5EF4-FFF2-40B4-BE49-F238E27FC236}">
                <a16:creationId xmlns:a16="http://schemas.microsoft.com/office/drawing/2014/main" id="{EC4603B4-71A0-433B-A5CB-D2C8F01345DA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111252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תהליך הרקע והגדרת הכלים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F3BAED55-2574-4992-A75F-E7A66774CB81}"/>
              </a:ext>
            </a:extLst>
          </p:cNvPr>
          <p:cNvSpPr>
            <a:spLocks noGrp="1"/>
          </p:cNvSpPr>
          <p:nvPr/>
        </p:nvSpPr>
        <p:spPr>
          <a:xfrm>
            <a:off x="571500" y="1085850"/>
            <a:ext cx="11049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025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025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האשף מפעיל Gateway גם כשלא נבחר שירות הודעות, ואז עובר לרשימת הכלים.</a:t>
            </a:r>
          </a:p>
        </p:txBody>
      </p:sp>
      <p:pic>
        <p:nvPicPr>
          <p:cNvPr id="8" name="תמונה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" y="2314251"/>
            <a:ext cx="10953750" cy="3086748"/>
          </a:xfrm>
          <a:prstGeom prst="rect">
            <a:avLst/>
          </a:prstGeom>
        </p:spPr>
      </p:pic>
      <p:sp>
        <p:nvSpPr>
          <p:cNvPr id="4" name="מלבן 3">
            <a:extLst>
              <a:ext uri="{FF2B5EF4-FFF2-40B4-BE49-F238E27FC236}">
                <a16:creationId xmlns:a16="http://schemas.microsoft.com/office/drawing/2014/main" id="{53DDEEB4-96DE-4451-8875-8F5B8D0A0B6D}"/>
              </a:ext>
            </a:extLst>
          </p:cNvPr>
          <p:cNvSpPr>
            <a:spLocks noGrp="1"/>
          </p:cNvSpPr>
          <p:nvPr/>
        </p:nvSpPr>
        <p:spPr>
          <a:xfrm>
            <a:off x="533400" y="6067425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בסיום ההדגמה נעצור את תהליך הרקע באמצעות פקודה ייעודית.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78C89FEB-9C13-4DDA-9EE6-90B1DAD0847E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951319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לבן 5">
            <a:extLst>
              <a:ext uri="{FF2B5EF4-FFF2-40B4-BE49-F238E27FC236}">
                <a16:creationId xmlns:a16="http://schemas.microsoft.com/office/drawing/2014/main" id="{FBF59B33-FD36-4EB5-905C-1AD675ADC355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111252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בחירת כלים לסוכן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1F848D15-8F91-4332-8990-98E1369CBA60}"/>
              </a:ext>
            </a:extLst>
          </p:cNvPr>
          <p:cNvSpPr>
            <a:spLocks noGrp="1"/>
          </p:cNvSpPr>
          <p:nvPr/>
        </p:nvSpPr>
        <p:spPr>
          <a:xfrm>
            <a:off x="571500" y="1085850"/>
            <a:ext cx="11049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025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025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משאירים פעילים חיפוש, דפדפן, מסוף, קבצים והרצת קוד. מסירים כלים שאינם נדרשים לתרגול.</a:t>
            </a:r>
          </a:p>
        </p:txBody>
      </p:sp>
      <p:pic>
        <p:nvPicPr>
          <p:cNvPr id="8" name="תמונה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" y="2256881"/>
            <a:ext cx="10953750" cy="3201488"/>
          </a:xfrm>
          <a:prstGeom prst="rect">
            <a:avLst/>
          </a:prstGeom>
        </p:spPr>
      </p:pic>
      <p:sp>
        <p:nvSpPr>
          <p:cNvPr id="4" name="מלבן 3">
            <a:extLst>
              <a:ext uri="{FF2B5EF4-FFF2-40B4-BE49-F238E27FC236}">
                <a16:creationId xmlns:a16="http://schemas.microsoft.com/office/drawing/2014/main" id="{356FCC24-4DD3-4BB2-A971-0AA6D1CE2B2C}"/>
              </a:ext>
            </a:extLst>
          </p:cNvPr>
          <p:cNvSpPr>
            <a:spLocks noGrp="1"/>
          </p:cNvSpPr>
          <p:nvPr/>
        </p:nvSpPr>
        <p:spPr>
          <a:xfrm>
            <a:off x="533400" y="6067425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מקלידים מספר ו־Enter כדי לשנות סימון. Enter בשדה ריק מאשר את הרשימה.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C01043CA-E6BE-4254-8905-145FAEA032C1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1312064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לבן 5">
            <a:extLst>
              <a:ext uri="{FF2B5EF4-FFF2-40B4-BE49-F238E27FC236}">
                <a16:creationId xmlns:a16="http://schemas.microsoft.com/office/drawing/2014/main" id="{393A149E-0F83-4EB5-8C11-749D3ACA1686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111252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מיומנויות, זיכרון ותכנון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D23290EC-4A1E-4AC2-914A-23C86C186EC7}"/>
              </a:ext>
            </a:extLst>
          </p:cNvPr>
          <p:cNvSpPr>
            <a:spLocks noGrp="1"/>
          </p:cNvSpPr>
          <p:nvPr/>
        </p:nvSpPr>
        <p:spPr>
          <a:xfrm>
            <a:off x="571500" y="1085850"/>
            <a:ext cx="11049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025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025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משאירים פעילים גם סקילים, תכנון משימות, זיכרון, חיפוש שיחות, שאלות הבהרה והאצלת משימות.</a:t>
            </a:r>
          </a:p>
        </p:txBody>
      </p:sp>
      <p:pic>
        <p:nvPicPr>
          <p:cNvPr id="8" name="תמונה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" y="2766317"/>
            <a:ext cx="10953750" cy="2182616"/>
          </a:xfrm>
          <a:prstGeom prst="rect">
            <a:avLst/>
          </a:prstGeom>
        </p:spPr>
      </p:pic>
      <p:sp>
        <p:nvSpPr>
          <p:cNvPr id="4" name="מלבן 3">
            <a:extLst>
              <a:ext uri="{FF2B5EF4-FFF2-40B4-BE49-F238E27FC236}">
                <a16:creationId xmlns:a16="http://schemas.microsoft.com/office/drawing/2014/main" id="{EB9934BF-F015-435C-8987-A99EE0E55C4A}"/>
              </a:ext>
            </a:extLst>
          </p:cNvPr>
          <p:cNvSpPr>
            <a:spLocks noGrp="1"/>
          </p:cNvSpPr>
          <p:nvPr/>
        </p:nvSpPr>
        <p:spPr>
          <a:xfrm>
            <a:off x="533400" y="6067425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אלה הבחירות בהדגמה. ניתן להתאים את רשימת הכלים לאחר ההתקנה.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DD09C556-A6D2-4B4F-96E5-FA91834EFFB5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5069407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לבן 5">
            <a:extLst>
              <a:ext uri="{FF2B5EF4-FFF2-40B4-BE49-F238E27FC236}">
                <a16:creationId xmlns:a16="http://schemas.microsoft.com/office/drawing/2014/main" id="{9F0DEBF2-CFFD-4A57-96D2-2962038A8B57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111252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דפדפן מקומי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403662AB-69C4-4C8E-9924-FF8BF8F8AA31}"/>
              </a:ext>
            </a:extLst>
          </p:cNvPr>
          <p:cNvSpPr>
            <a:spLocks noGrp="1"/>
          </p:cNvSpPr>
          <p:nvPr/>
        </p:nvSpPr>
        <p:spPr>
          <a:xfrm>
            <a:off x="571500" y="1085850"/>
            <a:ext cx="11049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025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025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בהגדרת כלי הדפדפן בוחרים Local Browser ומאשרים. בצילום זו אפשרות 1.</a:t>
            </a:r>
          </a:p>
        </p:txBody>
      </p:sp>
      <p:pic>
        <p:nvPicPr>
          <p:cNvPr id="8" name="תמונה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" y="2735855"/>
            <a:ext cx="10953750" cy="2243539"/>
          </a:xfrm>
          <a:prstGeom prst="rect">
            <a:avLst/>
          </a:prstGeom>
        </p:spPr>
      </p:pic>
      <p:sp>
        <p:nvSpPr>
          <p:cNvPr id="4" name="מלבן 3">
            <a:extLst>
              <a:ext uri="{FF2B5EF4-FFF2-40B4-BE49-F238E27FC236}">
                <a16:creationId xmlns:a16="http://schemas.microsoft.com/office/drawing/2014/main" id="{DB983849-9314-43FC-91CF-E8FE091EBA44}"/>
              </a:ext>
            </a:extLst>
          </p:cNvPr>
          <p:cNvSpPr>
            <a:spLocks noGrp="1"/>
          </p:cNvSpPr>
          <p:nvPr/>
        </p:nvSpPr>
        <p:spPr>
          <a:xfrm>
            <a:off x="533400" y="6067425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האשף אישר שבמחשב ההדגמה רכיב הדפדפן ו־Chromium כבר מותקנים.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ED07A381-F83F-4DB6-B997-2883CA3EF58D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5745050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לבן 5">
            <a:extLst>
              <a:ext uri="{FF2B5EF4-FFF2-40B4-BE49-F238E27FC236}">
                <a16:creationId xmlns:a16="http://schemas.microsoft.com/office/drawing/2014/main" id="{56DCDE5B-8235-4596-9466-4BCBDA84F60C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111252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חיפוש ללא מפתח נוסף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2E6E1462-8713-4873-827B-230B43F19ECB}"/>
              </a:ext>
            </a:extLst>
          </p:cNvPr>
          <p:cNvSpPr>
            <a:spLocks noGrp="1"/>
          </p:cNvSpPr>
          <p:nvPr/>
        </p:nvSpPr>
        <p:spPr>
          <a:xfrm>
            <a:off x="571500" y="1085850"/>
            <a:ext cx="11049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025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025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בהגדרת החיפוש בוחרים DuckDuckGo. האשף מתקין את החבילה ושומר את הגדרות הכלים.</a:t>
            </a:r>
          </a:p>
        </p:txBody>
      </p:sp>
      <p:pic>
        <p:nvPicPr>
          <p:cNvPr id="8" name="תמונה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" y="2734625"/>
            <a:ext cx="10953750" cy="2245999"/>
          </a:xfrm>
          <a:prstGeom prst="rect">
            <a:avLst/>
          </a:prstGeom>
        </p:spPr>
      </p:pic>
      <p:sp>
        <p:nvSpPr>
          <p:cNvPr id="4" name="מלבן 3">
            <a:extLst>
              <a:ext uri="{FF2B5EF4-FFF2-40B4-BE49-F238E27FC236}">
                <a16:creationId xmlns:a16="http://schemas.microsoft.com/office/drawing/2014/main" id="{960A2E0E-E384-40A1-A84D-041EEAA9FA20}"/>
              </a:ext>
            </a:extLst>
          </p:cNvPr>
          <p:cNvSpPr>
            <a:spLocks noGrp="1"/>
          </p:cNvSpPr>
          <p:nvPr/>
        </p:nvSpPr>
        <p:spPr>
          <a:xfrm>
            <a:off x="533400" y="6067425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בבורר זו הייתה אפשרות 4. השירות מספק חיפוש; קריאת דפים היא הגדרה נפרדת.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8A081C44-D51D-43B8-9B19-DAEF52FE2894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9579465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לבן 5">
            <a:extLst>
              <a:ext uri="{FF2B5EF4-FFF2-40B4-BE49-F238E27FC236}">
                <a16:creationId xmlns:a16="http://schemas.microsoft.com/office/drawing/2014/main" id="{41FCA6C3-10AF-4E26-8ACB-AFCEEF3E0227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111252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סיום ההגדרה המלאה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F5FFB3A9-8CD7-4A95-98F8-16D6AC3AC588}"/>
              </a:ext>
            </a:extLst>
          </p:cNvPr>
          <p:cNvSpPr>
            <a:spLocks noGrp="1"/>
          </p:cNvSpPr>
          <p:nvPr/>
        </p:nvSpPr>
        <p:spPr>
          <a:xfrm>
            <a:off x="571500" y="1085850"/>
            <a:ext cx="11049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025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025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הודעת האישור מציינת שהאשף הסתיים. לשיחה עם המודל נדרש מפתח OpenRouter תקף.</a:t>
            </a:r>
          </a:p>
        </p:txBody>
      </p:sp>
      <p:pic>
        <p:nvPicPr>
          <p:cNvPr id="8" name="תמונה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" y="2816247"/>
            <a:ext cx="10953750" cy="2082755"/>
          </a:xfrm>
          <a:prstGeom prst="rect">
            <a:avLst/>
          </a:prstGeom>
        </p:spPr>
      </p:pic>
      <p:sp>
        <p:nvSpPr>
          <p:cNvPr id="4" name="מלבן 3">
            <a:extLst>
              <a:ext uri="{FF2B5EF4-FFF2-40B4-BE49-F238E27FC236}">
                <a16:creationId xmlns:a16="http://schemas.microsoft.com/office/drawing/2014/main" id="{9496E204-C8C1-40D8-ACA2-D94E13079859}"/>
              </a:ext>
            </a:extLst>
          </p:cNvPr>
          <p:cNvSpPr>
            <a:spLocks noGrp="1"/>
          </p:cNvSpPr>
          <p:nvPr/>
        </p:nvSpPr>
        <p:spPr>
          <a:xfrm>
            <a:off x="533400" y="6067425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חלק מהכלים נשארו כבויים בהדגמה. אפשר להגדירם בהמשך.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0DDBFC49-CAA5-429B-925A-2970D086E256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643607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>
            <a:extLst>
              <a:ext uri="{FF2B5EF4-FFF2-40B4-BE49-F238E27FC236}">
                <a16:creationId xmlns:a16="http://schemas.microsoft.com/office/drawing/2014/main" id="{0C20A605-93B0-435E-9C93-AF3FDAA02EB9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111252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הפעלה ושינוי הגדרות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FF8315A6-1EAE-4977-9ECC-53EE8491B7CF}"/>
              </a:ext>
            </a:extLst>
          </p:cNvPr>
          <p:cNvSpPr>
            <a:spLocks noGrp="1"/>
          </p:cNvSpPr>
          <p:nvPr/>
        </p:nvSpPr>
        <p:spPr>
          <a:xfrm>
            <a:off x="571500" y="1085850"/>
            <a:ext cx="11049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025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025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כדי לשנות ספק, מודל או מפתח, מפעילים שוב את שלב הגדרת המודל.</a:t>
            </a:r>
          </a:p>
        </p:txBody>
      </p:sp>
      <p:pic>
        <p:nvPicPr>
          <p:cNvPr id="9" name="תמונה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" y="2631056"/>
            <a:ext cx="10953750" cy="1929263"/>
          </a:xfrm>
          <a:prstGeom prst="rect">
            <a:avLst/>
          </a:prstGeom>
        </p:spPr>
      </p:pic>
      <p:sp>
        <p:nvSpPr>
          <p:cNvPr id="4" name="מלבן 3">
            <a:extLst>
              <a:ext uri="{FF2B5EF4-FFF2-40B4-BE49-F238E27FC236}">
                <a16:creationId xmlns:a16="http://schemas.microsoft.com/office/drawing/2014/main" id="{2EF0A462-8933-49DC-A904-FB51FED3B673}"/>
              </a:ext>
            </a:extLst>
          </p:cNvPr>
          <p:cNvSpPr>
            <a:spLocks noGrp="1"/>
          </p:cNvSpPr>
          <p:nvPr/>
        </p:nvSpPr>
        <p:spPr>
          <a:xfrm>
            <a:off x="762000" y="5391150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2175" b="0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F3B"/>
                </a:solidFill>
                <a:latin typeface="Arial"/>
                <a:ea typeface="Arial"/>
                <a:cs typeface="Arial"/>
              </a:rPr>
              <a:t>hermes setup model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2FC073E7-C17E-49AB-8AAA-5B74E1452871}"/>
              </a:ext>
            </a:extLst>
          </p:cNvPr>
          <p:cNvSpPr>
            <a:spLocks noGrp="1"/>
          </p:cNvSpPr>
          <p:nvPr/>
        </p:nvSpPr>
        <p:spPr>
          <a:xfrm>
            <a:off x="533400" y="6067425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לאחר הגדרת OpenRouter, פקודת ההפעלה השוטפת היא hermes.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0B15F9AF-8A00-4E24-BD70-D12965D866D7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6389954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>
            <a:extLst>
              <a:ext uri="{FF2B5EF4-FFF2-40B4-BE49-F238E27FC236}">
                <a16:creationId xmlns:a16="http://schemas.microsoft.com/office/drawing/2014/main" id="{C011E126-3BE7-4A9F-86B6-FD2590CB25FC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111252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עצירת תהליך הרקע בסיום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C88E0723-4DDA-43DB-A07B-AE7EB9A15A64}"/>
              </a:ext>
            </a:extLst>
          </p:cNvPr>
          <p:cNvSpPr>
            <a:spLocks noGrp="1"/>
          </p:cNvSpPr>
          <p:nvPr/>
        </p:nvSpPr>
        <p:spPr>
          <a:xfrm>
            <a:off x="571500" y="1085850"/>
            <a:ext cx="11049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025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025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בסיום ההדגמה עוצרים את Gateway ובודקים שאינו פועל. את השיחה במסוף אפשר להפעיל בנפרד.</a:t>
            </a:r>
          </a:p>
        </p:txBody>
      </p:sp>
      <p:pic>
        <p:nvPicPr>
          <p:cNvPr id="9" name="תמונה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" y="2227943"/>
            <a:ext cx="10953750" cy="2735490"/>
          </a:xfrm>
          <a:prstGeom prst="rect">
            <a:avLst/>
          </a:prstGeom>
        </p:spPr>
      </p:pic>
      <p:sp>
        <p:nvSpPr>
          <p:cNvPr id="4" name="מלבן 3">
            <a:extLst>
              <a:ext uri="{FF2B5EF4-FFF2-40B4-BE49-F238E27FC236}">
                <a16:creationId xmlns:a16="http://schemas.microsoft.com/office/drawing/2014/main" id="{DD865DD4-C8EC-4F92-A50C-C14960972253}"/>
              </a:ext>
            </a:extLst>
          </p:cNvPr>
          <p:cNvSpPr>
            <a:spLocks noGrp="1"/>
          </p:cNvSpPr>
          <p:nvPr/>
        </p:nvSpPr>
        <p:spPr>
          <a:xfrm>
            <a:off x="762000" y="5391150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3000"/>
              </a:lnSpc>
              <a:buNone/>
              <a:defRPr sz="2175" b="0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F3B"/>
                </a:solidFill>
                <a:latin typeface="Arial"/>
                <a:ea typeface="Arial"/>
                <a:cs typeface="Arial"/>
              </a:rPr>
              <a:t>hermes gateway stop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A3CEAEB1-8CD5-4CC0-B698-7537AC538EEB}"/>
              </a:ext>
            </a:extLst>
          </p:cNvPr>
          <p:cNvSpPr>
            <a:spLocks noGrp="1"/>
          </p:cNvSpPr>
          <p:nvPr/>
        </p:nvSpPr>
        <p:spPr>
          <a:xfrm>
            <a:off x="533400" y="6067425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הבדיקה האחרונה בצילום מאשרת שאין תהליך Gateway פעיל.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0A3188D4-6FB8-4E40-8AB9-F41B52950FFF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301875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לבן 7">
            <a:extLst>
              <a:ext uri="{FF2B5EF4-FFF2-40B4-BE49-F238E27FC236}">
                <a16:creationId xmlns:a16="http://schemas.microsoft.com/office/drawing/2014/main" id="{E5D071C4-30F2-4582-A7F8-C3428BF0CBD0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11125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אפליקציה ישירות ב־Lovable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3121AC26-E64C-42D8-91B9-8EC1A8D8C921}"/>
              </a:ext>
            </a:extLst>
          </p:cNvPr>
          <p:cNvSpPr>
            <a:spLocks noGrp="1"/>
          </p:cNvSpPr>
          <p:nvPr/>
        </p:nvSpPr>
        <p:spPr>
          <a:xfrm>
            <a:off x="8334375" y="1619250"/>
            <a:ext cx="3324225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1. נכנסים ל־lovable.dev ומתחברים.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7DDA99EF-F9CC-4534-9606-F660B3013070}"/>
              </a:ext>
            </a:extLst>
          </p:cNvPr>
          <p:cNvSpPr>
            <a:spLocks noGrp="1"/>
          </p:cNvSpPr>
          <p:nvPr/>
        </p:nvSpPr>
        <p:spPr>
          <a:xfrm>
            <a:off x="8334375" y="2724150"/>
            <a:ext cx="3324225" cy="1209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2. מתארים בעברית את האפליקציה ואת הפעולות הרצויות.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55780445-E84B-4861-9CA5-EB238CCBD55D}"/>
              </a:ext>
            </a:extLst>
          </p:cNvPr>
          <p:cNvSpPr>
            <a:spLocks noGrp="1"/>
          </p:cNvSpPr>
          <p:nvPr/>
        </p:nvSpPr>
        <p:spPr>
          <a:xfrm>
            <a:off x="8334375" y="4067175"/>
            <a:ext cx="3324225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3. מבקשים ממשק בעברית ובכיווניות מימין לשמאל, ושולחים.</a:t>
            </a:r>
          </a:p>
        </p:txBody>
      </p:sp>
      <p:pic>
        <p:nvPicPr>
          <p:cNvPr id="12" name="תמונה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2359514"/>
            <a:ext cx="7391400" cy="2739047"/>
          </a:xfrm>
          <a:prstGeom prst="rect">
            <a:avLst/>
          </a:prstGeom>
        </p:spPr>
      </p:pic>
      <p:sp>
        <p:nvSpPr>
          <p:cNvPr id="6" name="מלבן 5">
            <a:extLst>
              <a:ext uri="{FF2B5EF4-FFF2-40B4-BE49-F238E27FC236}">
                <a16:creationId xmlns:a16="http://schemas.microsoft.com/office/drawing/2014/main" id="{81CC44F5-5615-400D-B482-1486E57C6E5F}"/>
              </a:ext>
            </a:extLst>
          </p:cNvPr>
          <p:cNvSpPr>
            <a:spLocks noGrp="1"/>
          </p:cNvSpPr>
          <p:nvPr/>
        </p:nvSpPr>
        <p:spPr>
          <a:xfrm>
            <a:off x="533400" y="6038850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1650" b="0">
                <a:solidFill>
                  <a:srgbClr val="337F7E"/>
                </a:solidFill>
                <a:latin typeface="Arial"/>
                <a:ea typeface="Arial"/>
                <a:cs typeface="Arial"/>
              </a:defRPr>
            </a:pPr>
            <a:r>
              <a:rPr lang="he-IL" sz="1650" b="0">
                <a:solidFill>
                  <a:srgbClr val="337F7E"/>
                </a:solidFill>
                <a:latin typeface="Arial"/>
                <a:ea typeface="Arial"/>
                <a:cs typeface="Arial"/>
                <a:hlinkClick r:id="rId4"/>
              </a:rPr>
              <a:t>לפתיחת Lovable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AA33C317-B8B8-449D-95AB-7B8A48EC12BC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4748508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לבן 5">
            <a:extLst>
              <a:ext uri="{FF2B5EF4-FFF2-40B4-BE49-F238E27FC236}">
                <a16:creationId xmlns:a16="http://schemas.microsoft.com/office/drawing/2014/main" id="{3C3882C7-CCB5-44E2-BA9E-3BB7D66DE54F}"/>
              </a:ext>
            </a:extLst>
          </p:cNvPr>
          <p:cNvSpPr>
            <a:spLocks noGrp="1"/>
          </p:cNvSpPr>
          <p:nvPr/>
        </p:nvSpPr>
        <p:spPr>
          <a:xfrm>
            <a:off x="533400" y="228600"/>
            <a:ext cx="111252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התוצאה הראשונית בעורך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89C0D14C-B0BF-4383-9200-7793A7D9188E}"/>
              </a:ext>
            </a:extLst>
          </p:cNvPr>
          <p:cNvSpPr>
            <a:spLocks noGrp="1"/>
          </p:cNvSpPr>
          <p:nvPr/>
        </p:nvSpPr>
        <p:spPr>
          <a:xfrm>
            <a:off x="533400" y="1000125"/>
            <a:ext cx="1112520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1875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1875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לאחר הבנייה, התצוגה המקדימה מאפשרת להשתמש באפליקציה ולבדוק את התוצאה.</a:t>
            </a:r>
          </a:p>
        </p:txBody>
      </p:sp>
      <p:pic>
        <p:nvPicPr>
          <p:cNvPr id="8" name="תמונה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67218" y="1571625"/>
            <a:ext cx="8657565" cy="4438650"/>
          </a:xfrm>
          <a:prstGeom prst="rect">
            <a:avLst/>
          </a:prstGeom>
        </p:spPr>
      </p:pic>
      <p:sp>
        <p:nvSpPr>
          <p:cNvPr id="4" name="מלבן 3">
            <a:extLst>
              <a:ext uri="{FF2B5EF4-FFF2-40B4-BE49-F238E27FC236}">
                <a16:creationId xmlns:a16="http://schemas.microsoft.com/office/drawing/2014/main" id="{79A334B2-FDD7-4C52-9105-1CEC15B4201F}"/>
              </a:ext>
            </a:extLst>
          </p:cNvPr>
          <p:cNvSpPr>
            <a:spLocks noGrp="1"/>
          </p:cNvSpPr>
          <p:nvPr/>
        </p:nvSpPr>
        <p:spPr>
          <a:xfrm>
            <a:off x="533400" y="6067425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בדוגמה: מנהל משימות לימוד בעברית, עם נתוני תרגול פיקטיביים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20028D00-6E44-4FE4-9DE4-8EB6FB423C4E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6643845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לבן 7">
            <a:extLst>
              <a:ext uri="{FF2B5EF4-FFF2-40B4-BE49-F238E27FC236}">
                <a16:creationId xmlns:a16="http://schemas.microsoft.com/office/drawing/2014/main" id="{54615BB1-28C8-40B1-9CBA-3042E5B4501B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11125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שיפור ובדיקה של האפליקציה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AA022108-4724-4ABE-A8EA-7DFBC67F8A96}"/>
              </a:ext>
            </a:extLst>
          </p:cNvPr>
          <p:cNvSpPr>
            <a:spLocks noGrp="1"/>
          </p:cNvSpPr>
          <p:nvPr/>
        </p:nvSpPr>
        <p:spPr>
          <a:xfrm>
            <a:off x="8334375" y="1619250"/>
            <a:ext cx="3324225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1. בודקים פעולה אמיתית, למשל הוספת משימה.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10C7E8DA-10F1-483A-81B6-E775FF2831D5}"/>
              </a:ext>
            </a:extLst>
          </p:cNvPr>
          <p:cNvSpPr>
            <a:spLocks noGrp="1"/>
          </p:cNvSpPr>
          <p:nvPr/>
        </p:nvSpPr>
        <p:spPr>
          <a:xfrm>
            <a:off x="8334375" y="2800350"/>
            <a:ext cx="3324225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2. מבקשים בצ'אט שינוי ממוקד ובודקים שוב.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03743C36-145D-4896-BE9A-698DC431E7F3}"/>
              </a:ext>
            </a:extLst>
          </p:cNvPr>
          <p:cNvSpPr>
            <a:spLocks noGrp="1"/>
          </p:cNvSpPr>
          <p:nvPr/>
        </p:nvSpPr>
        <p:spPr>
          <a:xfrm>
            <a:off x="8334375" y="3981450"/>
            <a:ext cx="3324225" cy="1162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3. בודקים גם תצוגת נייד ואת הכיווניות בעברית.</a:t>
            </a:r>
          </a:p>
        </p:txBody>
      </p:sp>
      <p:pic>
        <p:nvPicPr>
          <p:cNvPr id="12" name="תמונה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1716201"/>
            <a:ext cx="7391400" cy="4025673"/>
          </a:xfrm>
          <a:prstGeom prst="rect">
            <a:avLst/>
          </a:prstGeom>
        </p:spPr>
      </p:pic>
      <p:sp>
        <p:nvSpPr>
          <p:cNvPr id="6" name="מלבן 5">
            <a:extLst>
              <a:ext uri="{FF2B5EF4-FFF2-40B4-BE49-F238E27FC236}">
                <a16:creationId xmlns:a16="http://schemas.microsoft.com/office/drawing/2014/main" id="{5AD424B1-35B6-4D29-82E7-162B2BC124D7}"/>
              </a:ext>
            </a:extLst>
          </p:cNvPr>
          <p:cNvSpPr>
            <a:spLocks noGrp="1"/>
          </p:cNvSpPr>
          <p:nvPr/>
        </p:nvSpPr>
        <p:spPr>
          <a:xfrm>
            <a:off x="533400" y="6067425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דוגמת בקשת שינוי: ״הוסף סינון למשימות של השבוע הקרוב״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1CC07188-8CF5-4E47-B1AE-C59ED742F55D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2428502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לבן 7">
            <a:extLst>
              <a:ext uri="{FF2B5EF4-FFF2-40B4-BE49-F238E27FC236}">
                <a16:creationId xmlns:a16="http://schemas.microsoft.com/office/drawing/2014/main" id="{356191D3-BAA8-4BC3-B79A-CE8AEE4E95D9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11125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פרסום וקישור לאפליקציה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2DEB8E82-BE18-4003-A72C-8B840960E5EE}"/>
              </a:ext>
            </a:extLst>
          </p:cNvPr>
          <p:cNvSpPr>
            <a:spLocks noGrp="1"/>
          </p:cNvSpPr>
          <p:nvPr/>
        </p:nvSpPr>
        <p:spPr>
          <a:xfrm>
            <a:off x="8334375" y="1619250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1. לוחצים Publish ופותחים את חלון הפרסום.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11DCECD3-7803-438C-AC6D-771D705EC495}"/>
              </a:ext>
            </a:extLst>
          </p:cNvPr>
          <p:cNvSpPr>
            <a:spLocks noGrp="1"/>
          </p:cNvSpPr>
          <p:nvPr/>
        </p:nvSpPr>
        <p:spPr>
          <a:xfrm>
            <a:off x="8334375" y="2819400"/>
            <a:ext cx="332422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2. בודקים את הכתובת ואת הגדרות הגישה, ואז מפרסמים.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6CBCD060-C379-4F1F-91BE-5684E796AA7B}"/>
              </a:ext>
            </a:extLst>
          </p:cNvPr>
          <p:cNvSpPr>
            <a:spLocks noGrp="1"/>
          </p:cNvSpPr>
          <p:nvPr/>
        </p:nvSpPr>
        <p:spPr>
          <a:xfrm>
            <a:off x="8334375" y="4238625"/>
            <a:ext cx="332422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2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3. מעתיקים את הקישור ובודקים שהוא נפתח.</a:t>
            </a:r>
          </a:p>
        </p:txBody>
      </p:sp>
      <p:pic>
        <p:nvPicPr>
          <p:cNvPr id="12" name="תמונה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70431" y="1609725"/>
            <a:ext cx="5041138" cy="4238625"/>
          </a:xfrm>
          <a:prstGeom prst="rect">
            <a:avLst/>
          </a:prstGeom>
        </p:spPr>
      </p:pic>
      <p:sp>
        <p:nvSpPr>
          <p:cNvPr id="6" name="מלבן 5">
            <a:extLst>
              <a:ext uri="{FF2B5EF4-FFF2-40B4-BE49-F238E27FC236}">
                <a16:creationId xmlns:a16="http://schemas.microsoft.com/office/drawing/2014/main" id="{096E3C36-6D6F-4954-92A7-B3FC8D85F812}"/>
              </a:ext>
            </a:extLst>
          </p:cNvPr>
          <p:cNvSpPr>
            <a:spLocks noGrp="1"/>
          </p:cNvSpPr>
          <p:nvPr/>
        </p:nvSpPr>
        <p:spPr>
          <a:xfrm>
            <a:off x="533400" y="6067425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אחרי שינוי נוסף, מעדכנים את האתר החי דרך Publish ואז Publish changes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DEFB0D64-C6DC-4085-9E76-3D1DAF1BE8F8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2747920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>
            <a:extLst>
              <a:ext uri="{FF2B5EF4-FFF2-40B4-BE49-F238E27FC236}">
                <a16:creationId xmlns:a16="http://schemas.microsoft.com/office/drawing/2014/main" id="{1C890B65-77F6-409A-BC1C-B48D9BA97F03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11125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תרגול מסכם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47ABFD44-FC1E-4175-9201-C9901FA76B2B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108013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325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325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סקיל: מתקינים סקיל אחד ובודקים משימה שמתאימה לו.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9FC2A8DB-0594-48D1-AC8A-A3CDA0FEA544}"/>
              </a:ext>
            </a:extLst>
          </p:cNvPr>
          <p:cNvSpPr>
            <a:spLocks noGrp="1"/>
          </p:cNvSpPr>
          <p:nvPr/>
        </p:nvSpPr>
        <p:spPr>
          <a:xfrm>
            <a:off x="857250" y="2705100"/>
            <a:ext cx="108013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325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325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מודל מקומי: מריצים את Gemma ושואלים שאלה בעברית.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41863CB5-E81E-4EA1-8E75-8EF93020CEC0}"/>
              </a:ext>
            </a:extLst>
          </p:cNvPr>
          <p:cNvSpPr>
            <a:spLocks noGrp="1"/>
          </p:cNvSpPr>
          <p:nvPr/>
        </p:nvSpPr>
        <p:spPr>
          <a:xfrm>
            <a:off x="857250" y="3695700"/>
            <a:ext cx="108013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325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325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Hermes: מגדירים ספק ומודל. מפתח דמה אינו מאפשר להריץ משימה בענן.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69016977-EEE2-474B-A2F9-348564457B46}"/>
              </a:ext>
            </a:extLst>
          </p:cNvPr>
          <p:cNvSpPr>
            <a:spLocks noGrp="1"/>
          </p:cNvSpPr>
          <p:nvPr/>
        </p:nvSpPr>
        <p:spPr>
          <a:xfrm>
            <a:off x="857250" y="4686300"/>
            <a:ext cx="108013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325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325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Lovable: בונים אפליקציה קטנה ובודקים לפחות פעולה אחת.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C8E39EA3-285B-4D63-950B-83D4A5A0DDE1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7759631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מלבן 9">
            <a:extLst>
              <a:ext uri="{FF2B5EF4-FFF2-40B4-BE49-F238E27FC236}">
                <a16:creationId xmlns:a16="http://schemas.microsoft.com/office/drawing/2014/main" id="{1E6E739E-D405-4979-A04C-3EADC415B201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11125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הפקודות לשימוש במהלך התרגול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628D5FEB-023A-4B59-8EA5-C54797466CC3}"/>
              </a:ext>
            </a:extLst>
          </p:cNvPr>
          <p:cNvSpPr>
            <a:spLocks noGrp="1"/>
          </p:cNvSpPr>
          <p:nvPr/>
        </p:nvSpPr>
        <p:spPr>
          <a:xfrm>
            <a:off x="533400" y="6067425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לאחר הגדרת OpenRouter פותחים את הסוכן באמצעות הפקודה hermes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5C1F1613-0642-4A30-A0F4-F95F6CB403B6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5C65EB10-A71C-4F0F-89CB-D2EA9CEC3FAA}"/>
              </a:ext>
            </a:extLst>
          </p:cNvPr>
          <p:cNvSpPr>
            <a:spLocks noGrp="1"/>
          </p:cNvSpPr>
          <p:nvPr/>
        </p:nvSpPr>
        <p:spPr>
          <a:xfrm>
            <a:off x="714375" y="1600200"/>
            <a:ext cx="10858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2025" b="1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025" b="1">
                <a:solidFill>
                  <a:srgbClr val="263D3B"/>
                </a:solidFill>
                <a:latin typeface="Arial"/>
                <a:ea typeface="Arial"/>
                <a:cs typeface="Arial"/>
              </a:rPr>
              <a:t>התקנת Ollama ב־PowerShell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DE5AE9C0-069C-48B1-A7EF-678584177A00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2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irm https://ollama.com/install.ps1 | iex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BA091049-CA3A-48C0-8092-162CC989987D}"/>
              </a:ext>
            </a:extLst>
          </p:cNvPr>
          <p:cNvSpPr>
            <a:spLocks noGrp="1"/>
          </p:cNvSpPr>
          <p:nvPr/>
        </p:nvSpPr>
        <p:spPr>
          <a:xfrm>
            <a:off x="714375" y="3009900"/>
            <a:ext cx="10858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2025" b="1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025" b="1">
                <a:solidFill>
                  <a:srgbClr val="263D3B"/>
                </a:solidFill>
                <a:latin typeface="Arial"/>
                <a:ea typeface="Arial"/>
                <a:cs typeface="Arial"/>
              </a:rPr>
              <a:t>הורדה והפעלה של המודל המקומי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C7B2D011-AD21-4644-B5E7-A58FB1360F86}"/>
              </a:ext>
            </a:extLst>
          </p:cNvPr>
          <p:cNvSpPr>
            <a:spLocks noGrp="1"/>
          </p:cNvSpPr>
          <p:nvPr/>
        </p:nvSpPr>
        <p:spPr>
          <a:xfrm>
            <a:off x="762000" y="35528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2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ollama run gemma4:e2b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CC49ABE5-1567-4AE9-8666-68A12560C740}"/>
              </a:ext>
            </a:extLst>
          </p:cNvPr>
          <p:cNvSpPr>
            <a:spLocks noGrp="1"/>
          </p:cNvSpPr>
          <p:nvPr/>
        </p:nvSpPr>
        <p:spPr>
          <a:xfrm>
            <a:off x="714375" y="4419600"/>
            <a:ext cx="10858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2025" b="1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lang="he-IL" sz="2025" b="1">
                <a:solidFill>
                  <a:srgbClr val="263D3B"/>
                </a:solidFill>
                <a:latin typeface="Arial"/>
                <a:ea typeface="Arial"/>
                <a:cs typeface="Arial"/>
              </a:rPr>
              <a:t>התקנה ראשונה של Hermes דרך Ollama</a:t>
            </a: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C334D719-108B-430F-87A9-AA3DF4551FA8}"/>
              </a:ext>
            </a:extLst>
          </p:cNvPr>
          <p:cNvSpPr>
            <a:spLocks noGrp="1"/>
          </p:cNvSpPr>
          <p:nvPr/>
        </p:nvSpPr>
        <p:spPr>
          <a:xfrm>
            <a:off x="762000" y="49625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2250" b="0">
                <a:solidFill>
                  <a:srgbClr val="263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D3B"/>
                </a:solidFill>
                <a:latin typeface="Arial"/>
                <a:ea typeface="Arial"/>
                <a:cs typeface="Arial"/>
              </a:rPr>
              <a:t>ollama launch hermes</a:t>
            </a:r>
          </a:p>
        </p:txBody>
      </p:sp>
    </p:spTree>
    <p:extLst>
      <p:ext uri="{BB962C8B-B14F-4D97-AF65-F5344CB8AC3E}">
        <p14:creationId xmlns:p14="http://schemas.microsoft.com/office/powerpoint/2010/main" val="21422645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מלבן 9">
            <a:extLst>
              <a:ext uri="{FF2B5EF4-FFF2-40B4-BE49-F238E27FC236}">
                <a16:creationId xmlns:a16="http://schemas.microsoft.com/office/drawing/2014/main" id="{62CC0D62-3CCF-4CBC-94D7-8664A57D590D}"/>
              </a:ext>
            </a:extLst>
          </p:cNvPr>
          <p:cNvSpPr>
            <a:spLocks noGrp="1"/>
          </p:cNvSpPr>
          <p:nvPr/>
        </p:nvSpPr>
        <p:spPr>
          <a:xfrm>
            <a:off x="533400" y="400050"/>
            <a:ext cx="111252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03000"/>
              </a:lnSpc>
              <a:buNone/>
              <a:def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defRPr>
            </a:pPr>
            <a:r>
              <a:rPr lang="he-IL" sz="3450" b="1">
                <a:solidFill>
                  <a:srgbClr val="153F3B"/>
                </a:solidFill>
                <a:latin typeface="Arial"/>
                <a:ea typeface="Arial"/>
                <a:cs typeface="Arial"/>
              </a:rPr>
              <a:t>קישורים שימושיים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4A7080B5-7720-4A3C-8BEF-AA07CFE7BAA6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108013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325" b="0">
                <a:solidFill>
                  <a:srgbClr val="337F7E"/>
                </a:solidFill>
                <a:latin typeface="Arial"/>
                <a:ea typeface="Arial"/>
                <a:cs typeface="Arial"/>
              </a:defRPr>
            </a:pPr>
            <a:r>
              <a:rPr lang="he-IL" sz="2325" b="0">
                <a:solidFill>
                  <a:srgbClr val="337F7E"/>
                </a:solidFill>
                <a:latin typeface="Arial"/>
                <a:ea typeface="Arial"/>
                <a:cs typeface="Arial"/>
                <a:hlinkClick r:id="rId3"/>
              </a:rPr>
              <a:t>ספריית SKILLS-IL בעברית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D1CD0F29-5E89-43D9-B4E3-79DCC6AA0F7B}"/>
              </a:ext>
            </a:extLst>
          </p:cNvPr>
          <p:cNvSpPr>
            <a:spLocks noGrp="1"/>
          </p:cNvSpPr>
          <p:nvPr/>
        </p:nvSpPr>
        <p:spPr>
          <a:xfrm>
            <a:off x="857250" y="2286000"/>
            <a:ext cx="108013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325" b="0">
                <a:solidFill>
                  <a:srgbClr val="337F7E"/>
                </a:solidFill>
                <a:latin typeface="Arial"/>
                <a:ea typeface="Arial"/>
                <a:cs typeface="Arial"/>
              </a:defRPr>
            </a:pPr>
            <a:r>
              <a:rPr lang="he-IL" sz="2325" b="0">
                <a:solidFill>
                  <a:srgbClr val="337F7E"/>
                </a:solidFill>
                <a:latin typeface="Arial"/>
                <a:ea typeface="Arial"/>
                <a:cs typeface="Arial"/>
                <a:hlinkClick r:id="rId4"/>
              </a:rPr>
              <a:t>הוראות העלאת סקילים ל־Claude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01D94032-06C4-486C-82FE-6A6B38D96D21}"/>
              </a:ext>
            </a:extLst>
          </p:cNvPr>
          <p:cNvSpPr>
            <a:spLocks noGrp="1"/>
          </p:cNvSpPr>
          <p:nvPr/>
        </p:nvSpPr>
        <p:spPr>
          <a:xfrm>
            <a:off x="857250" y="3000375"/>
            <a:ext cx="108013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325" b="0">
                <a:solidFill>
                  <a:srgbClr val="337F7E"/>
                </a:solidFill>
                <a:latin typeface="Arial"/>
                <a:ea typeface="Arial"/>
                <a:cs typeface="Arial"/>
              </a:defRPr>
            </a:pPr>
            <a:r>
              <a:rPr lang="he-IL" sz="2325" b="0">
                <a:solidFill>
                  <a:srgbClr val="337F7E"/>
                </a:solidFill>
                <a:latin typeface="Arial"/>
                <a:ea typeface="Arial"/>
                <a:cs typeface="Arial"/>
                <a:hlinkClick r:id="rId5"/>
              </a:rPr>
              <a:t>הורדת Ollama ל־Windows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9ED3E403-C007-4060-BC73-C23E8F89E65D}"/>
              </a:ext>
            </a:extLst>
          </p:cNvPr>
          <p:cNvSpPr>
            <a:spLocks noGrp="1"/>
          </p:cNvSpPr>
          <p:nvPr/>
        </p:nvSpPr>
        <p:spPr>
          <a:xfrm>
            <a:off x="857250" y="3714750"/>
            <a:ext cx="108013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325" b="0">
                <a:solidFill>
                  <a:srgbClr val="337F7E"/>
                </a:solidFill>
                <a:latin typeface="Arial"/>
                <a:ea typeface="Arial"/>
                <a:cs typeface="Arial"/>
              </a:defRPr>
            </a:pPr>
            <a:r>
              <a:rPr lang="he-IL" sz="2325" b="0">
                <a:solidFill>
                  <a:srgbClr val="337F7E"/>
                </a:solidFill>
                <a:latin typeface="Arial"/>
                <a:ea typeface="Arial"/>
                <a:cs typeface="Arial"/>
                <a:hlinkClick r:id="rId6"/>
              </a:rPr>
              <a:t>Hermes דרך Ollama: המדריך הרשמי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1AC7FFB2-B6CF-447D-B092-AF558EDC38AF}"/>
              </a:ext>
            </a:extLst>
          </p:cNvPr>
          <p:cNvSpPr>
            <a:spLocks noGrp="1"/>
          </p:cNvSpPr>
          <p:nvPr/>
        </p:nvSpPr>
        <p:spPr>
          <a:xfrm>
            <a:off x="857250" y="4429125"/>
            <a:ext cx="108013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325" b="0">
                <a:solidFill>
                  <a:srgbClr val="337F7E"/>
                </a:solidFill>
                <a:latin typeface="Arial"/>
                <a:ea typeface="Arial"/>
                <a:cs typeface="Arial"/>
              </a:defRPr>
            </a:pPr>
            <a:r>
              <a:rPr lang="he-IL" sz="2325" b="0">
                <a:solidFill>
                  <a:srgbClr val="337F7E"/>
                </a:solidFill>
                <a:latin typeface="Arial"/>
                <a:ea typeface="Arial"/>
                <a:cs typeface="Arial"/>
                <a:hlinkClick r:id="rId7"/>
              </a:rPr>
              <a:t>התחלה ישירה עם Lovable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26B97260-4C11-4F46-81D5-D18A31B9D763}"/>
              </a:ext>
            </a:extLst>
          </p:cNvPr>
          <p:cNvSpPr>
            <a:spLocks noGrp="1"/>
          </p:cNvSpPr>
          <p:nvPr/>
        </p:nvSpPr>
        <p:spPr>
          <a:xfrm>
            <a:off x="857250" y="5143500"/>
            <a:ext cx="108013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4000"/>
              </a:lnSpc>
              <a:buNone/>
              <a:defRPr lang="he-IL" sz="2325" b="0">
                <a:solidFill>
                  <a:srgbClr val="337F7E"/>
                </a:solidFill>
                <a:latin typeface="Arial"/>
                <a:ea typeface="Arial"/>
                <a:cs typeface="Arial"/>
              </a:defRPr>
            </a:pPr>
            <a:r>
              <a:rPr lang="he-IL" sz="2325" b="0">
                <a:solidFill>
                  <a:srgbClr val="337F7E"/>
                </a:solidFill>
                <a:latin typeface="Arial"/>
                <a:ea typeface="Arial"/>
                <a:cs typeface="Arial"/>
                <a:hlinkClick r:id="rId8"/>
              </a:rPr>
              <a:t>מפתחות API של OpenRouter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9649121D-9EB2-4016-B409-DFB6A32F589E}"/>
              </a:ext>
            </a:extLst>
          </p:cNvPr>
          <p:cNvSpPr>
            <a:spLocks noGrp="1"/>
          </p:cNvSpPr>
          <p:nvPr/>
        </p:nvSpPr>
        <p:spPr>
          <a:xfrm>
            <a:off x="533400" y="6067425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 rtl="1">
              <a:lnSpc>
                <a:spcPct val="112000"/>
              </a:lnSpc>
              <a:buNone/>
              <a:def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lang="he-IL" sz="15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כל השורות בשקופית הן קישורים לחיצים. מקורות נוספים בהערות השקופיות</a:t>
            </a: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4FEF769A-A8DF-4AB9-B134-3B17E29D276A}"/>
              </a:ext>
            </a:extLst>
          </p:cNvPr>
          <p:cNvSpPr>
            <a:spLocks noGrp="1"/>
          </p:cNvSpPr>
          <p:nvPr/>
        </p:nvSpPr>
        <p:spPr>
          <a:xfrm>
            <a:off x="285750" y="6477000"/>
            <a:ext cx="4286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5787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2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3408336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1595</Words>
  <Application>Microsoft Office PowerPoint</Application>
  <DocSecurity>0</DocSecurity>
  <PresentationFormat>מסך רחב</PresentationFormat>
  <Paragraphs>236</Paragraphs>
  <Slides>41</Slides>
  <Notes>41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41</vt:i4>
      </vt:variant>
    </vt:vector>
  </HeadingPairs>
  <TitlesOfParts>
    <vt:vector size="44" baseType="lpstr">
      <vt:lpstr>Arial</vt:lpstr>
      <vt:lpstr>Calibri</vt:lpstr>
      <vt:lpstr>ChatGPT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מאור משה</cp:lastModifiedBy>
  <cp:revision>3</cp:revision>
  <dcterms:created xsi:type="dcterms:W3CDTF">2026-09-06T21:33:57Z</dcterms:created>
  <dcterms:modified xsi:type="dcterms:W3CDTF">2026-09-07T01:52:24Z</dcterms:modified>
</cp:coreProperties>
</file>